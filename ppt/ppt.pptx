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handoutMasterIdLst>
    <p:handoutMasterId r:id="rId21"/>
  </p:handoutMasterIdLst>
  <p:sldIdLst>
    <p:sldId id="256" r:id="rId3"/>
    <p:sldId id="257" r:id="rId4"/>
    <p:sldId id="258" r:id="rId5"/>
    <p:sldId id="262" r:id="rId6"/>
    <p:sldId id="291" r:id="rId8"/>
    <p:sldId id="259" r:id="rId9"/>
    <p:sldId id="280" r:id="rId10"/>
    <p:sldId id="296" r:id="rId11"/>
    <p:sldId id="310" r:id="rId12"/>
    <p:sldId id="308" r:id="rId13"/>
    <p:sldId id="309" r:id="rId14"/>
    <p:sldId id="311" r:id="rId15"/>
    <p:sldId id="312" r:id="rId16"/>
    <p:sldId id="313" r:id="rId17"/>
    <p:sldId id="314" r:id="rId18"/>
    <p:sldId id="315" r:id="rId19"/>
    <p:sldId id="272" r:id="rId20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30"/>
    <p:restoredTop sz="94694"/>
  </p:normalViewPr>
  <p:slideViewPr>
    <p:cSldViewPr snapToGrid="0">
      <p:cViewPr varScale="1">
        <p:scale>
          <a:sx n="81" d="100"/>
          <a:sy n="81" d="100"/>
        </p:scale>
        <p:origin x="2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9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76F9D-7DCF-264B-ADCB-B7A67878F21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712C0-FBCD-324F-BF1D-38904C6C270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microsoft.com/office/2007/relationships/hdphoto" Target="../media/image4.wdp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1.png"/><Relationship Id="rId2" Type="http://schemas.microsoft.com/office/2007/relationships/hdphoto" Target="../media/image4.wdp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microsoft.com/office/2007/relationships/hdphoto" Target="../media/image4.wdp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jpeg"/><Relationship Id="rId3" Type="http://schemas.openxmlformats.org/officeDocument/2006/relationships/image" Target="../media/image1.png"/><Relationship Id="rId2" Type="http://schemas.microsoft.com/office/2007/relationships/hdphoto" Target="../media/image4.wdp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1.png"/><Relationship Id="rId2" Type="http://schemas.microsoft.com/office/2007/relationships/hdphoto" Target="../media/image4.wdp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microsoft.com/office/2007/relationships/hdphoto" Target="../media/image4.wdp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1.png"/><Relationship Id="rId2" Type="http://schemas.microsoft.com/office/2007/relationships/hdphoto" Target="../media/image4.wdp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microsoft.com/office/2007/relationships/hdphoto" Target="../media/image4.wdp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microsoft.com/office/2007/relationships/hdphoto" Target="../media/image4.wdp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829853"/>
            <a:ext cx="12192002" cy="24858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10235" y="2012315"/>
            <a:ext cx="11009630" cy="2120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fontAlgn="auto">
              <a:lnSpc>
                <a:spcPct val="150000"/>
              </a:lnSpc>
            </a:pPr>
            <a:r>
              <a:rPr kumimoji="1" lang="en-US" altLang="zh-CN" sz="40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</a:t>
            </a:r>
            <a:r>
              <a:rPr kumimoji="1" lang="zh-CN" altLang="en-US" sz="40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语言程序设计</a:t>
            </a:r>
            <a:endParaRPr kumimoji="1" lang="zh-CN" altLang="en-US" sz="40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ctr" fontAlgn="auto">
              <a:lnSpc>
                <a:spcPct val="150000"/>
              </a:lnSpc>
            </a:pPr>
            <a:r>
              <a:rPr kumimoji="1" lang="zh-CN" altLang="en-US" sz="40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虚假新闻</a:t>
            </a:r>
            <a:r>
              <a:rPr kumimoji="1" lang="zh-CN" altLang="en-US" sz="40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检测</a:t>
            </a:r>
            <a:endParaRPr kumimoji="1" lang="zh-CN" altLang="en-US" sz="40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5064087" y="4869701"/>
            <a:ext cx="2063826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姓名：</a:t>
            </a:r>
            <a:r>
              <a:rPr kumimoji="1" lang="en-US" altLang="zh-CN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kumimoji="1" lang="en-US" altLang="zh-CN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endParaRPr kumimoji="1" lang="en-US" altLang="zh-CN" sz="1600" b="1" spc="3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2"/>
            </p:custDataLst>
          </p:nvPr>
        </p:nvSpPr>
        <p:spPr>
          <a:xfrm>
            <a:off x="4755396" y="4819233"/>
            <a:ext cx="2681207" cy="43943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accent1">
                <a:alpha val="6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5064087" y="5525421"/>
            <a:ext cx="2063826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学号：</a:t>
            </a:r>
            <a:r>
              <a:rPr kumimoji="1" lang="en-US" altLang="zh-CN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endParaRPr kumimoji="1" lang="en-US" altLang="zh-CN" sz="1600" b="1" spc="3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16"/>
          <p:cNvSpPr/>
          <p:nvPr>
            <p:custDataLst>
              <p:tags r:id="rId4"/>
            </p:custDataLst>
          </p:nvPr>
        </p:nvSpPr>
        <p:spPr>
          <a:xfrm>
            <a:off x="4755396" y="5474953"/>
            <a:ext cx="2681207" cy="43943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accent1">
                <a:alpha val="6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9080" y="684211"/>
            <a:ext cx="2093839" cy="767463"/>
          </a:xfrm>
          <a:prstGeom prst="rect">
            <a:avLst/>
          </a:prstGeom>
        </p:spPr>
      </p:pic>
      <p:sp>
        <p:nvSpPr>
          <p:cNvPr id="12" name="椭圆 11"/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3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2654013"/>
            <a:ext cx="3806890" cy="1831325"/>
          </a:xfrm>
          <a:prstGeom prst="rect">
            <a:avLst/>
          </a:prstGeom>
          <a:ln>
            <a:noFill/>
          </a:ln>
          <a:effectLst>
            <a:outerShdw blurRad="387740" dist="38100" algn="l" rotWithShape="0">
              <a:schemeClr val="accent1">
                <a:lumMod val="75000"/>
                <a:alpha val="14476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任意形状 2"/>
          <p:cNvSpPr/>
          <p:nvPr/>
        </p:nvSpPr>
        <p:spPr>
          <a:xfrm rot="16200000">
            <a:off x="3210743" y="2264212"/>
            <a:ext cx="209094" cy="136524"/>
          </a:xfrm>
          <a:custGeom>
            <a:avLst/>
            <a:gdLst>
              <a:gd name="connsiteX0" fmla="*/ 0 w 567136"/>
              <a:gd name="connsiteY0" fmla="*/ 4428 h 285782"/>
              <a:gd name="connsiteX1" fmla="*/ 281354 w 567136"/>
              <a:gd name="connsiteY1" fmla="*/ 285782 h 285782"/>
              <a:gd name="connsiteX2" fmla="*/ 567136 w 567136"/>
              <a:gd name="connsiteY2" fmla="*/ 0 h 285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7136" h="285782">
                <a:moveTo>
                  <a:pt x="0" y="4428"/>
                </a:moveTo>
                <a:lnTo>
                  <a:pt x="281354" y="285782"/>
                </a:lnTo>
                <a:lnTo>
                  <a:pt x="567136" y="0"/>
                </a:lnTo>
              </a:path>
            </a:pathLst>
          </a:custGeom>
          <a:noFill/>
          <a:ln w="34925" cap="rnd">
            <a:solidFill>
              <a:schemeClr val="accent1">
                <a:alpha val="38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任意形状 3"/>
          <p:cNvSpPr/>
          <p:nvPr/>
        </p:nvSpPr>
        <p:spPr>
          <a:xfrm rot="16200000">
            <a:off x="3391366" y="2264212"/>
            <a:ext cx="209094" cy="136524"/>
          </a:xfrm>
          <a:custGeom>
            <a:avLst/>
            <a:gdLst>
              <a:gd name="connsiteX0" fmla="*/ 0 w 567136"/>
              <a:gd name="connsiteY0" fmla="*/ 4428 h 285782"/>
              <a:gd name="connsiteX1" fmla="*/ 281354 w 567136"/>
              <a:gd name="connsiteY1" fmla="*/ 285782 h 285782"/>
              <a:gd name="connsiteX2" fmla="*/ 567136 w 567136"/>
              <a:gd name="connsiteY2" fmla="*/ 0 h 285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7136" h="285782">
                <a:moveTo>
                  <a:pt x="0" y="4428"/>
                </a:moveTo>
                <a:lnTo>
                  <a:pt x="281354" y="285782"/>
                </a:lnTo>
                <a:lnTo>
                  <a:pt x="567136" y="0"/>
                </a:lnTo>
              </a:path>
            </a:pathLst>
          </a:custGeom>
          <a:noFill/>
          <a:ln w="34925" cap="rnd">
            <a:solidFill>
              <a:schemeClr val="accent1">
                <a:alpha val="64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任意形状 4"/>
          <p:cNvSpPr/>
          <p:nvPr/>
        </p:nvSpPr>
        <p:spPr>
          <a:xfrm rot="16200000">
            <a:off x="3571989" y="2264212"/>
            <a:ext cx="209094" cy="136524"/>
          </a:xfrm>
          <a:custGeom>
            <a:avLst/>
            <a:gdLst>
              <a:gd name="connsiteX0" fmla="*/ 0 w 567136"/>
              <a:gd name="connsiteY0" fmla="*/ 4428 h 285782"/>
              <a:gd name="connsiteX1" fmla="*/ 281354 w 567136"/>
              <a:gd name="connsiteY1" fmla="*/ 285782 h 285782"/>
              <a:gd name="connsiteX2" fmla="*/ 567136 w 567136"/>
              <a:gd name="connsiteY2" fmla="*/ 0 h 285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7136" h="285782">
                <a:moveTo>
                  <a:pt x="0" y="4428"/>
                </a:moveTo>
                <a:lnTo>
                  <a:pt x="281354" y="285782"/>
                </a:lnTo>
                <a:lnTo>
                  <a:pt x="567136" y="0"/>
                </a:lnTo>
              </a:path>
            </a:pathLst>
          </a:custGeom>
          <a:noFill/>
          <a:ln w="34925" cap="rnd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46416" y="3657404"/>
            <a:ext cx="17443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  <a:endParaRPr kumimoji="1" lang="zh-CN" altLang="en-US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87338" y="3015680"/>
            <a:ext cx="16625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kumimoji="1" lang="zh-CN" altLang="en-US" sz="40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i$ḷíḑè"/>
          <p:cNvSpPr/>
          <p:nvPr/>
        </p:nvSpPr>
        <p:spPr>
          <a:xfrm>
            <a:off x="5601335" y="2494280"/>
            <a:ext cx="5524500" cy="553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Ins="90000" rtlCol="0" anchor="ctr">
            <a:noAutofit/>
          </a:bodyPr>
          <a:lstStyle/>
          <a:p>
            <a:pPr algn="l"/>
            <a:r>
              <a:rPr kumimoji="1" lang="en-US" altLang="zh-CN" sz="2800" b="1" spc="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kumimoji="1" lang="zh-CN" altLang="en-US" sz="2800" b="1" spc="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、项目介绍</a:t>
            </a:r>
            <a:endParaRPr kumimoji="1" lang="zh-CN" altLang="en-US" sz="2800" b="1" spc="6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íŝ1îde"/>
          <p:cNvSpPr/>
          <p:nvPr/>
        </p:nvSpPr>
        <p:spPr>
          <a:xfrm>
            <a:off x="5601335" y="3293110"/>
            <a:ext cx="5485130" cy="553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Ins="90000" rtlCol="0" anchor="ctr">
            <a:noAutofit/>
          </a:bodyPr>
          <a:lstStyle/>
          <a:p>
            <a:pPr algn="l"/>
            <a:r>
              <a:rPr kumimoji="1" lang="en-US" altLang="zh-CN" sz="2800" b="1" spc="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kumimoji="1" lang="zh-CN" altLang="en-US" sz="2800" b="1" spc="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、主要步骤</a:t>
            </a:r>
            <a:endParaRPr kumimoji="1" lang="zh-CN" altLang="en-US" sz="2800" b="1" spc="6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î$lïḑè"/>
          <p:cNvSpPr/>
          <p:nvPr/>
        </p:nvSpPr>
        <p:spPr>
          <a:xfrm>
            <a:off x="5601335" y="4091940"/>
            <a:ext cx="5417185" cy="553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Ins="90000" rtlCol="0" anchor="ctr">
            <a:noAutofit/>
          </a:bodyPr>
          <a:lstStyle/>
          <a:p>
            <a:pPr algn="l"/>
            <a:r>
              <a:rPr kumimoji="1" lang="en-US" altLang="zh-CN" sz="2800" b="1" spc="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kumimoji="1" lang="zh-CN" altLang="en-US" sz="2800" b="1" spc="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、结果</a:t>
            </a:r>
            <a:r>
              <a:rPr kumimoji="1" lang="zh-CN" altLang="en-US" sz="2800" b="1" spc="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展示</a:t>
            </a:r>
            <a:endParaRPr kumimoji="1" lang="zh-CN" altLang="en-US" sz="2800" b="1" spc="6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5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320" y="363215"/>
            <a:ext cx="1510035" cy="5534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2759075" y="3239135"/>
            <a:ext cx="669544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4800" b="1" spc="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项目介绍</a:t>
            </a:r>
            <a:endParaRPr kumimoji="1" lang="zh-CN" altLang="en-US" sz="4800" b="1" spc="6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49859" y="2332425"/>
            <a:ext cx="60997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4000" b="1" dirty="0">
                <a:solidFill>
                  <a:schemeClr val="accent1">
                    <a:alpha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01</a:t>
            </a:r>
            <a:endParaRPr lang="zh-CN" altLang="en-US" sz="4000" b="1" dirty="0">
              <a:solidFill>
                <a:schemeClr val="tx1">
                  <a:alpha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1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320" y="363215"/>
            <a:ext cx="1510035" cy="553479"/>
          </a:xfrm>
          <a:prstGeom prst="rect">
            <a:avLst/>
          </a:prstGeom>
        </p:spPr>
      </p:pic>
      <p:cxnSp>
        <p:nvCxnSpPr>
          <p:cNvPr id="15" name="直线连接符 14"/>
          <p:cNvCxnSpPr/>
          <p:nvPr/>
        </p:nvCxnSpPr>
        <p:spPr>
          <a:xfrm>
            <a:off x="2759242" y="4525575"/>
            <a:ext cx="6673516" cy="0"/>
          </a:xfrm>
          <a:prstGeom prst="line">
            <a:avLst/>
          </a:prstGeom>
          <a:ln>
            <a:solidFill>
              <a:schemeClr val="accent1">
                <a:alpha val="3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2320" y="178695"/>
            <a:ext cx="1459911" cy="53510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05810" y="1083388"/>
            <a:ext cx="110538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项目介绍</a:t>
            </a:r>
            <a:endParaRPr kumimoji="1" lang="zh-CN" altLang="en-US" sz="2000" b="1" spc="3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线连接符 12"/>
          <p:cNvCxnSpPr/>
          <p:nvPr/>
        </p:nvCxnSpPr>
        <p:spPr>
          <a:xfrm>
            <a:off x="606718" y="1548245"/>
            <a:ext cx="109785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6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90" y="168905"/>
            <a:ext cx="1510035" cy="553479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82345" y="1851660"/>
            <a:ext cx="10250170" cy="2999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1600" b="1" spc="12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85750" indent="-28575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/>
              <a:t>问题描述：</a:t>
            </a:r>
            <a:endParaRPr lang="zh-CN" altLang="en-US" sz="1800" dirty="0"/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0" dirty="0"/>
              <a:t>      </a:t>
            </a:r>
            <a:r>
              <a:rPr lang="zh-CN" altLang="en-US" sz="1800" b="0" dirty="0"/>
              <a:t>本实验所使用的数据集为中文文本分类数据集，其中每条记录包含以下字段：</a:t>
            </a:r>
            <a:r>
              <a:rPr lang="en-US" altLang="zh-CN" sz="1800" b="0" dirty="0"/>
              <a:t>id</a:t>
            </a:r>
            <a:r>
              <a:rPr lang="zh-CN" altLang="en-US" sz="1800" b="0" dirty="0"/>
              <a:t>（样本编号）、</a:t>
            </a:r>
            <a:r>
              <a:rPr lang="en-US" altLang="zh-CN" sz="1800" b="0" dirty="0"/>
              <a:t>text</a:t>
            </a:r>
            <a:r>
              <a:rPr lang="zh-CN" altLang="en-US" sz="1800" b="0" dirty="0"/>
              <a:t>（文本内容）以及</a:t>
            </a:r>
            <a:r>
              <a:rPr lang="en-US" altLang="zh-CN" sz="1800" b="0" dirty="0"/>
              <a:t> label</a:t>
            </a:r>
            <a:r>
              <a:rPr lang="zh-CN" altLang="en-US" sz="1800" b="0" dirty="0"/>
              <a:t>（分类标签）。</a:t>
            </a:r>
            <a:endParaRPr lang="zh-CN" altLang="en-US" sz="1800" b="0" dirty="0"/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0" dirty="0"/>
              <a:t>      </a:t>
            </a:r>
            <a:r>
              <a:rPr lang="zh-CN" altLang="en-US" sz="1800" b="0" dirty="0"/>
              <a:t>其中，</a:t>
            </a:r>
            <a:r>
              <a:rPr lang="en-US" altLang="zh-CN" sz="1800" dirty="0"/>
              <a:t>text </a:t>
            </a:r>
            <a:r>
              <a:rPr lang="zh-CN" altLang="en-US" sz="1800" dirty="0"/>
              <a:t>表示待分类的中文文本内容，是本实验的输入字段；</a:t>
            </a:r>
            <a:r>
              <a:rPr lang="en-US" altLang="zh-CN" sz="1800" dirty="0"/>
              <a:t>label </a:t>
            </a:r>
            <a:r>
              <a:rPr lang="zh-CN" altLang="en-US" sz="1800" dirty="0"/>
              <a:t>为目标变量，用于标注文本类别</a:t>
            </a:r>
            <a:r>
              <a:rPr lang="zh-CN" altLang="en-US" sz="1800" b="0" dirty="0"/>
              <a:t>，取值定义如下：</a:t>
            </a:r>
            <a:endParaRPr lang="en-US" altLang="zh-CN" sz="1800" b="0" dirty="0"/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0" dirty="0"/>
              <a:t>      0 </a:t>
            </a:r>
            <a:r>
              <a:rPr lang="zh-CN" altLang="en-US" sz="1800" b="0" dirty="0"/>
              <a:t>表示真新闻（</a:t>
            </a:r>
            <a:r>
              <a:rPr lang="en-US" altLang="zh-CN" sz="1800" b="0" dirty="0"/>
              <a:t>Negative</a:t>
            </a:r>
            <a:r>
              <a:rPr lang="zh-CN" altLang="en-US" sz="1800" b="0" dirty="0"/>
              <a:t>）；</a:t>
            </a:r>
            <a:endParaRPr lang="en-US" altLang="zh-CN" sz="1800" b="0" dirty="0"/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0" dirty="0"/>
              <a:t>      1 </a:t>
            </a:r>
            <a:r>
              <a:rPr lang="zh-CN" altLang="en-US" sz="1800" b="0" dirty="0"/>
              <a:t>表示假新闻（</a:t>
            </a:r>
            <a:r>
              <a:rPr lang="en-US" altLang="zh-CN" sz="1800" b="0" dirty="0"/>
              <a:t>Positive</a:t>
            </a:r>
            <a:r>
              <a:rPr lang="zh-CN" altLang="en-US" sz="1800" b="0" dirty="0"/>
              <a:t>，正样本）。</a:t>
            </a:r>
            <a:endParaRPr lang="zh-CN" altLang="en-US" sz="1800" b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2320" y="178695"/>
            <a:ext cx="1459911" cy="53510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05810" y="1083388"/>
            <a:ext cx="110538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项目介绍</a:t>
            </a:r>
            <a:endParaRPr kumimoji="1" lang="zh-CN" altLang="en-US" sz="2000" b="1" spc="3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线连接符 12"/>
          <p:cNvCxnSpPr/>
          <p:nvPr/>
        </p:nvCxnSpPr>
        <p:spPr>
          <a:xfrm>
            <a:off x="606718" y="1548245"/>
            <a:ext cx="109785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6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90" y="168905"/>
            <a:ext cx="1510035" cy="55347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82345" y="1851660"/>
            <a:ext cx="10250170" cy="31292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 kumimoji="1" sz="1600" b="1" spc="12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85750" indent="-28575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ym typeface="+mn-ea"/>
              </a:rPr>
              <a:t>实验目的：</a:t>
            </a:r>
            <a:endParaRPr lang="zh-CN" altLang="en-US" sz="1800" dirty="0"/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0" dirty="0">
                <a:sym typeface="+mn-ea"/>
              </a:rPr>
              <a:t>      </a:t>
            </a:r>
            <a:r>
              <a:rPr lang="zh-CN" altLang="en-US" sz="1800" b="0" dirty="0">
                <a:sym typeface="+mn-ea"/>
              </a:rPr>
              <a:t>通过各种机器学习与深度学习的方法来进行对于</a:t>
            </a:r>
            <a:r>
              <a:rPr lang="en-US" altLang="zh-CN" sz="1800" b="0" dirty="0">
                <a:sym typeface="+mn-ea"/>
              </a:rPr>
              <a:t>train.csv</a:t>
            </a:r>
            <a:r>
              <a:rPr lang="zh-CN" altLang="en-US" sz="1800" b="0" dirty="0">
                <a:sym typeface="+mn-ea"/>
              </a:rPr>
              <a:t>的模型建立与预测，然后用</a:t>
            </a:r>
            <a:r>
              <a:rPr lang="en-US" altLang="zh-CN" sz="1800" b="0" dirty="0">
                <a:sym typeface="+mn-ea"/>
              </a:rPr>
              <a:t>Atest.csv</a:t>
            </a:r>
            <a:r>
              <a:rPr lang="zh-CN" altLang="en-US" sz="1800" b="0" dirty="0">
                <a:sym typeface="+mn-ea"/>
              </a:rPr>
              <a:t>来进行判断，得出最后的</a:t>
            </a:r>
            <a:r>
              <a:rPr lang="en-US" altLang="zh-CN" sz="1800" b="0" dirty="0">
                <a:sym typeface="+mn-ea"/>
              </a:rPr>
              <a:t>AUC</a:t>
            </a:r>
            <a:r>
              <a:rPr lang="zh-CN" altLang="en-US" sz="1800" b="0" dirty="0">
                <a:sym typeface="+mn-ea"/>
              </a:rPr>
              <a:t>等值，再对模型进行不断的修改，不断提升预测的正确率。</a:t>
            </a:r>
            <a:r>
              <a:rPr lang="en-US" altLang="zh-CN" sz="1800" b="0" dirty="0">
                <a:sym typeface="+mn-ea"/>
              </a:rPr>
              <a:t> </a:t>
            </a:r>
            <a:endParaRPr lang="en-US" altLang="zh-CN" sz="1800" b="0" dirty="0"/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0" dirty="0">
                <a:sym typeface="+mn-ea"/>
              </a:rPr>
              <a:t>      </a:t>
            </a:r>
            <a:r>
              <a:rPr lang="zh-CN" altLang="en-US" sz="1800" b="0" dirty="0">
                <a:sym typeface="+mn-ea"/>
              </a:rPr>
              <a:t>我们需要测试与分析基于数据集的多种模型的结果差异，从中找出现阶段最好的模型来进行后续的预测；同时更进一步的，我们需要通过此次大作业来探究普适的虚假新闻检测模型与方法。</a:t>
            </a:r>
            <a:endParaRPr lang="zh-CN" altLang="en-US" sz="1800" b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2575560" y="3429000"/>
            <a:ext cx="7049135" cy="8642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kumimoji="1" lang="zh-CN" altLang="en-US" sz="4800" b="1" spc="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主要</a:t>
            </a:r>
            <a:r>
              <a:rPr kumimoji="1" lang="zh-CN" altLang="en-US" sz="4800" b="1" spc="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步骤</a:t>
            </a:r>
            <a:endParaRPr kumimoji="1" lang="zh-CN" altLang="en-US" sz="4800" b="1" spc="6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49859" y="2332425"/>
            <a:ext cx="60997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4000" b="1" dirty="0">
                <a:solidFill>
                  <a:schemeClr val="accent1">
                    <a:alpha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zh-CN" altLang="en-US" sz="4000" b="1" dirty="0">
              <a:solidFill>
                <a:schemeClr val="tx1">
                  <a:alpha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1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直线连接符 14"/>
          <p:cNvCxnSpPr/>
          <p:nvPr/>
        </p:nvCxnSpPr>
        <p:spPr>
          <a:xfrm>
            <a:off x="2759242" y="4525575"/>
            <a:ext cx="6673516" cy="0"/>
          </a:xfrm>
          <a:prstGeom prst="line">
            <a:avLst/>
          </a:prstGeom>
          <a:ln>
            <a:solidFill>
              <a:schemeClr val="accent1">
                <a:alpha val="3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320" y="363215"/>
            <a:ext cx="1510035" cy="5534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2320" y="178695"/>
            <a:ext cx="1459911" cy="53510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05810" y="1083388"/>
            <a:ext cx="110538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</a:t>
            </a:r>
            <a:r>
              <a:rPr kumimoji="1" lang="zh-CN" altLang="en-US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endParaRPr kumimoji="1" lang="zh-CN" altLang="en-US" sz="2000" b="1" spc="3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线连接符 12"/>
          <p:cNvCxnSpPr/>
          <p:nvPr/>
        </p:nvCxnSpPr>
        <p:spPr>
          <a:xfrm>
            <a:off x="606718" y="1548245"/>
            <a:ext cx="109785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6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90" y="168905"/>
            <a:ext cx="1510035" cy="553479"/>
          </a:xfrm>
          <a:prstGeom prst="rect">
            <a:avLst/>
          </a:prstGeom>
        </p:spPr>
      </p:pic>
      <p:cxnSp>
        <p:nvCxnSpPr>
          <p:cNvPr id="2" name="直线连接符 4"/>
          <p:cNvCxnSpPr/>
          <p:nvPr/>
        </p:nvCxnSpPr>
        <p:spPr>
          <a:xfrm>
            <a:off x="1037167" y="4907107"/>
            <a:ext cx="10117666" cy="0"/>
          </a:xfrm>
          <a:prstGeom prst="line">
            <a:avLst/>
          </a:prstGeom>
          <a:ln w="19050" cap="rnd">
            <a:prstDash val="dash"/>
            <a:round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任意形状 22"/>
          <p:cNvSpPr/>
          <p:nvPr/>
        </p:nvSpPr>
        <p:spPr>
          <a:xfrm flipV="1">
            <a:off x="1137135" y="2445736"/>
            <a:ext cx="2817684" cy="1966528"/>
          </a:xfrm>
          <a:custGeom>
            <a:avLst/>
            <a:gdLst>
              <a:gd name="connsiteX0" fmla="*/ 0 w 2817684"/>
              <a:gd name="connsiteY0" fmla="*/ 1966528 h 1966528"/>
              <a:gd name="connsiteX1" fmla="*/ 2817684 w 2817684"/>
              <a:gd name="connsiteY1" fmla="*/ 1966528 h 1966528"/>
              <a:gd name="connsiteX2" fmla="*/ 2817684 w 2817684"/>
              <a:gd name="connsiteY2" fmla="*/ 209446 h 1966528"/>
              <a:gd name="connsiteX3" fmla="*/ 1574475 w 2817684"/>
              <a:gd name="connsiteY3" fmla="*/ 209446 h 1966528"/>
              <a:gd name="connsiteX4" fmla="*/ 1408843 w 2817684"/>
              <a:gd name="connsiteY4" fmla="*/ 0 h 1966528"/>
              <a:gd name="connsiteX5" fmla="*/ 1243211 w 2817684"/>
              <a:gd name="connsiteY5" fmla="*/ 209446 h 1966528"/>
              <a:gd name="connsiteX6" fmla="*/ 0 w 2817684"/>
              <a:gd name="connsiteY6" fmla="*/ 209446 h 1966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7684" h="1966528">
                <a:moveTo>
                  <a:pt x="0" y="1966528"/>
                </a:moveTo>
                <a:lnTo>
                  <a:pt x="2817684" y="1966528"/>
                </a:lnTo>
                <a:lnTo>
                  <a:pt x="2817684" y="209446"/>
                </a:lnTo>
                <a:lnTo>
                  <a:pt x="1574475" y="209446"/>
                </a:lnTo>
                <a:lnTo>
                  <a:pt x="1408843" y="0"/>
                </a:lnTo>
                <a:lnTo>
                  <a:pt x="1243211" y="209446"/>
                </a:lnTo>
                <a:lnTo>
                  <a:pt x="0" y="209446"/>
                </a:lnTo>
                <a:close/>
              </a:path>
            </a:pathLst>
          </a:custGeom>
          <a:noFill/>
          <a:ln>
            <a:solidFill>
              <a:schemeClr val="accent1">
                <a:alpha val="60737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/>
          </a:p>
        </p:txBody>
      </p:sp>
      <p:sp>
        <p:nvSpPr>
          <p:cNvPr id="14" name="任意形状 25"/>
          <p:cNvSpPr/>
          <p:nvPr/>
        </p:nvSpPr>
        <p:spPr>
          <a:xfrm flipV="1">
            <a:off x="4687158" y="2445736"/>
            <a:ext cx="2817684" cy="1966528"/>
          </a:xfrm>
          <a:custGeom>
            <a:avLst/>
            <a:gdLst>
              <a:gd name="connsiteX0" fmla="*/ 0 w 2817684"/>
              <a:gd name="connsiteY0" fmla="*/ 1966528 h 1966528"/>
              <a:gd name="connsiteX1" fmla="*/ 2817684 w 2817684"/>
              <a:gd name="connsiteY1" fmla="*/ 1966528 h 1966528"/>
              <a:gd name="connsiteX2" fmla="*/ 2817684 w 2817684"/>
              <a:gd name="connsiteY2" fmla="*/ 209446 h 1966528"/>
              <a:gd name="connsiteX3" fmla="*/ 1574475 w 2817684"/>
              <a:gd name="connsiteY3" fmla="*/ 209446 h 1966528"/>
              <a:gd name="connsiteX4" fmla="*/ 1408843 w 2817684"/>
              <a:gd name="connsiteY4" fmla="*/ 0 h 1966528"/>
              <a:gd name="connsiteX5" fmla="*/ 1243211 w 2817684"/>
              <a:gd name="connsiteY5" fmla="*/ 209446 h 1966528"/>
              <a:gd name="connsiteX6" fmla="*/ 0 w 2817684"/>
              <a:gd name="connsiteY6" fmla="*/ 209446 h 1966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7684" h="1966528">
                <a:moveTo>
                  <a:pt x="0" y="1966528"/>
                </a:moveTo>
                <a:lnTo>
                  <a:pt x="2817684" y="1966528"/>
                </a:lnTo>
                <a:lnTo>
                  <a:pt x="2817684" y="209446"/>
                </a:lnTo>
                <a:lnTo>
                  <a:pt x="1574475" y="209446"/>
                </a:lnTo>
                <a:lnTo>
                  <a:pt x="1408843" y="0"/>
                </a:lnTo>
                <a:lnTo>
                  <a:pt x="1243211" y="209446"/>
                </a:lnTo>
                <a:lnTo>
                  <a:pt x="0" y="209446"/>
                </a:lnTo>
                <a:close/>
              </a:path>
            </a:pathLst>
          </a:custGeom>
          <a:noFill/>
          <a:ln>
            <a:solidFill>
              <a:schemeClr val="accent1">
                <a:alpha val="60737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/>
          </a:p>
        </p:txBody>
      </p:sp>
      <p:sp>
        <p:nvSpPr>
          <p:cNvPr id="29" name="任意形状 28"/>
          <p:cNvSpPr/>
          <p:nvPr/>
        </p:nvSpPr>
        <p:spPr>
          <a:xfrm flipV="1">
            <a:off x="8237181" y="2445736"/>
            <a:ext cx="2817684" cy="1966528"/>
          </a:xfrm>
          <a:custGeom>
            <a:avLst/>
            <a:gdLst>
              <a:gd name="connsiteX0" fmla="*/ 0 w 2817684"/>
              <a:gd name="connsiteY0" fmla="*/ 1966528 h 1966528"/>
              <a:gd name="connsiteX1" fmla="*/ 2817684 w 2817684"/>
              <a:gd name="connsiteY1" fmla="*/ 1966528 h 1966528"/>
              <a:gd name="connsiteX2" fmla="*/ 2817684 w 2817684"/>
              <a:gd name="connsiteY2" fmla="*/ 209446 h 1966528"/>
              <a:gd name="connsiteX3" fmla="*/ 1574475 w 2817684"/>
              <a:gd name="connsiteY3" fmla="*/ 209446 h 1966528"/>
              <a:gd name="connsiteX4" fmla="*/ 1408843 w 2817684"/>
              <a:gd name="connsiteY4" fmla="*/ 0 h 1966528"/>
              <a:gd name="connsiteX5" fmla="*/ 1243211 w 2817684"/>
              <a:gd name="connsiteY5" fmla="*/ 209446 h 1966528"/>
              <a:gd name="connsiteX6" fmla="*/ 0 w 2817684"/>
              <a:gd name="connsiteY6" fmla="*/ 209446 h 1966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7684" h="1966528">
                <a:moveTo>
                  <a:pt x="0" y="1966528"/>
                </a:moveTo>
                <a:lnTo>
                  <a:pt x="2817684" y="1966528"/>
                </a:lnTo>
                <a:lnTo>
                  <a:pt x="2817684" y="209446"/>
                </a:lnTo>
                <a:lnTo>
                  <a:pt x="1574475" y="209446"/>
                </a:lnTo>
                <a:lnTo>
                  <a:pt x="1408843" y="0"/>
                </a:lnTo>
                <a:lnTo>
                  <a:pt x="1243211" y="209446"/>
                </a:lnTo>
                <a:lnTo>
                  <a:pt x="0" y="209446"/>
                </a:lnTo>
                <a:close/>
              </a:path>
            </a:pathLst>
          </a:custGeom>
          <a:noFill/>
          <a:ln>
            <a:solidFill>
              <a:schemeClr val="accent1">
                <a:alpha val="60737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1124532" y="5309754"/>
            <a:ext cx="283028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zh-CN" altLang="en-US" sz="2000" b="1" spc="3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传统机器学习</a:t>
            </a:r>
            <a:endParaRPr kumimoji="1" lang="zh-CN" altLang="en-US" sz="2000" b="1" spc="3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687158" y="5309754"/>
            <a:ext cx="283028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en-US" altLang="zh-CN" sz="2000" b="1" spc="3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Word2</a:t>
            </a:r>
            <a:r>
              <a:rPr kumimoji="1" lang="en-US" altLang="zh-CN" sz="2000" b="1" spc="3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Vec</a:t>
            </a:r>
            <a:endParaRPr kumimoji="1" lang="en-US" altLang="zh-CN" sz="2000" b="1" spc="3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237181" y="5309754"/>
            <a:ext cx="283028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en-US" altLang="zh-CN" sz="2000" b="1" spc="3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BERT</a:t>
            </a:r>
            <a:endParaRPr kumimoji="1" lang="en-US" altLang="zh-CN" sz="2000" b="1" spc="3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68095" y="2740025"/>
            <a:ext cx="2565400" cy="11664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ctr">
              <a:defRPr kumimoji="1" sz="4400" b="1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TF‑IDF 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表示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 NB / LR / RF 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三模型；</a:t>
            </a:r>
            <a:endParaRPr lang="zh-CN" alt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20000"/>
              </a:lnSpc>
            </a:pP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779645" y="2740025"/>
            <a:ext cx="2633345" cy="108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4400" b="1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Jieba 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分词，加载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sgns.sogou.char 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词向量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LSTM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358218" y="2574601"/>
            <a:ext cx="2565194" cy="1419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4400" b="1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基于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hfl/chinese-roberta-wwm-ext 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微调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2320" y="178695"/>
            <a:ext cx="1459911" cy="53510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05810" y="1083388"/>
            <a:ext cx="110538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1" lang="en-US" altLang="zh-CN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TF-IDF + NB / LR / R</a:t>
            </a:r>
            <a:r>
              <a:rPr kumimoji="1" lang="en-US" altLang="zh-CN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kumimoji="1" lang="en-US" altLang="zh-CN" sz="2000" b="1" spc="3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线连接符 12"/>
          <p:cNvCxnSpPr/>
          <p:nvPr/>
        </p:nvCxnSpPr>
        <p:spPr>
          <a:xfrm>
            <a:off x="606718" y="1548245"/>
            <a:ext cx="109785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6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90" y="168905"/>
            <a:ext cx="1510035" cy="55347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82345" y="1851660"/>
            <a:ext cx="9175750" cy="31292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 kumimoji="1" sz="1600" b="1" spc="12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85750" indent="-28575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ym typeface="+mn-ea"/>
              </a:rPr>
              <a:t>特征表示</a:t>
            </a:r>
            <a:r>
              <a:rPr lang="zh-CN" altLang="en-US" sz="1800" dirty="0">
                <a:sym typeface="+mn-ea"/>
              </a:rPr>
              <a:t>：</a:t>
            </a:r>
            <a:r>
              <a:rPr lang="en-US" altLang="zh-CN" sz="1800" dirty="0">
                <a:sym typeface="+mn-ea"/>
              </a:rPr>
              <a:t>TF-IDF</a:t>
            </a:r>
            <a:endParaRPr lang="zh-CN" altLang="en-US" sz="1800" dirty="0"/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0" dirty="0">
                <a:sym typeface="+mn-ea"/>
              </a:rPr>
              <a:t>      </a:t>
            </a:r>
            <a:r>
              <a:rPr lang="zh-CN" altLang="en-US" sz="1800" b="0" dirty="0"/>
              <a:t>将文本表示为词项的重要性向量。</a:t>
            </a:r>
            <a:endParaRPr lang="zh-CN" altLang="en-US" sz="1800" b="0" dirty="0"/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0" dirty="0"/>
              <a:t>      </a:t>
            </a:r>
            <a:r>
              <a:rPr lang="zh-CN" altLang="en-US" sz="1800" b="0" dirty="0"/>
              <a:t>计算公式：</a:t>
            </a:r>
            <a:endParaRPr lang="zh-CN" altLang="en-US" sz="1800" b="0" dirty="0"/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endParaRPr lang="zh-CN" altLang="en-US" sz="1800" b="0" dirty="0"/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endParaRPr lang="zh-CN" altLang="en-US" sz="1800" b="0" dirty="0"/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0" dirty="0"/>
              <a:t>      </a:t>
            </a:r>
            <a:r>
              <a:rPr lang="zh-CN" altLang="en-US" sz="1800" b="0" dirty="0"/>
              <a:t>其中</a:t>
            </a:r>
            <a:r>
              <a:rPr lang="en-US" altLang="zh-CN" sz="1800" b="0" dirty="0"/>
              <a:t> TF </a:t>
            </a:r>
            <a:r>
              <a:rPr lang="zh-CN" altLang="en-US" sz="1800" b="0" dirty="0"/>
              <a:t>表示词频，</a:t>
            </a:r>
            <a:r>
              <a:rPr lang="en-US" altLang="zh-CN" sz="1800" b="0" dirty="0"/>
              <a:t>IDF </a:t>
            </a:r>
            <a:r>
              <a:rPr lang="zh-CN" altLang="en-US" sz="1800" b="0" dirty="0"/>
              <a:t>表示包含该词的文档数，</a:t>
            </a:r>
            <a:r>
              <a:rPr lang="en-US" altLang="zh-CN" sz="1800" b="0" dirty="0"/>
              <a:t>N </a:t>
            </a:r>
            <a:r>
              <a:rPr lang="zh-CN" altLang="en-US" sz="1800" b="0" dirty="0"/>
              <a:t>为总文档数。在微信新闻数据中，</a:t>
            </a:r>
            <a:r>
              <a:rPr lang="en-US" altLang="zh-CN" sz="1800" b="0" dirty="0"/>
              <a:t>TF-IDF </a:t>
            </a:r>
            <a:r>
              <a:rPr lang="zh-CN" altLang="en-US" sz="1800" b="0" dirty="0"/>
              <a:t>能突出区别真新闻与假新闻的关键词权重。</a:t>
            </a:r>
            <a:endParaRPr lang="zh-CN" altLang="en-US" sz="1800" b="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695" y="2981325"/>
            <a:ext cx="5133975" cy="895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2320" y="178695"/>
            <a:ext cx="1459911" cy="53510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05810" y="1083388"/>
            <a:ext cx="110538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kumimoji="1" lang="en-US" altLang="zh-CN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kumimoji="1" lang="zh-CN" altLang="en-US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kumimoji="1" lang="en-US" altLang="zh-CN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TF-IDF + NB / LR / R</a:t>
            </a:r>
            <a:r>
              <a:rPr kumimoji="1" lang="en-US" altLang="zh-CN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kumimoji="1" lang="en-US" altLang="zh-CN" sz="2000" b="1" spc="3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线连接符 12"/>
          <p:cNvCxnSpPr/>
          <p:nvPr/>
        </p:nvCxnSpPr>
        <p:spPr>
          <a:xfrm>
            <a:off x="606718" y="1548245"/>
            <a:ext cx="109785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6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90" y="168905"/>
            <a:ext cx="1510035" cy="55347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82345" y="1851660"/>
            <a:ext cx="9688195" cy="4278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 kumimoji="1" sz="1600" b="1" spc="12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85750" indent="-28575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ym typeface="+mn-ea"/>
              </a:rPr>
              <a:t>模型</a:t>
            </a:r>
            <a:r>
              <a:rPr lang="zh-CN" altLang="en-US" sz="1800" dirty="0">
                <a:sym typeface="+mn-ea"/>
              </a:rPr>
              <a:t>层：</a:t>
            </a:r>
            <a:endParaRPr lang="zh-CN" altLang="en-US" sz="1800" dirty="0">
              <a:sym typeface="+mn-ea"/>
            </a:endParaRPr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0" dirty="0"/>
              <a:t>       </a:t>
            </a:r>
            <a:r>
              <a:rPr lang="en-US" altLang="zh-CN" sz="1800" dirty="0"/>
              <a:t>NB</a:t>
            </a:r>
            <a:r>
              <a:rPr lang="zh-CN" altLang="en-US" sz="1800" dirty="0"/>
              <a:t>（朴素贝叶斯）：</a:t>
            </a:r>
            <a:r>
              <a:rPr lang="zh-CN" altLang="en-US" sz="1800" b="0" dirty="0"/>
              <a:t>基于贝叶斯定理和条件独立假设，认为在给定类别的情况下，各个词项出现是相互独立的。通过比较样本在不同类别下的条件概率大小来决定分类结果。</a:t>
            </a:r>
            <a:endParaRPr lang="zh-CN" altLang="en-US" sz="1800" b="0" dirty="0"/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0" dirty="0"/>
              <a:t>       </a:t>
            </a:r>
            <a:r>
              <a:rPr lang="en-US" altLang="zh-CN" sz="1800" dirty="0"/>
              <a:t>LR</a:t>
            </a:r>
            <a:r>
              <a:rPr lang="zh-CN" altLang="en-US" sz="1800" dirty="0"/>
              <a:t>（逻辑回归）：</a:t>
            </a:r>
            <a:r>
              <a:rPr lang="zh-CN" altLang="en-US" sz="1800" b="0" dirty="0"/>
              <a:t>通过学习一个线性函数，将输入特征的加权和映射为某一类别的概率，本质是一个判别式模型。每个词语对应一个权重，正权重推动预测为</a:t>
            </a:r>
            <a:r>
              <a:rPr lang="en-US" altLang="zh-CN" sz="1800" b="0" dirty="0"/>
              <a:t>“</a:t>
            </a:r>
            <a:r>
              <a:rPr lang="zh-CN" altLang="en-US" sz="1800" b="0" dirty="0"/>
              <a:t>真新闻</a:t>
            </a:r>
            <a:r>
              <a:rPr lang="en-US" altLang="zh-CN" sz="1800" b="0" dirty="0"/>
              <a:t>”</a:t>
            </a:r>
            <a:r>
              <a:rPr lang="zh-CN" altLang="en-US" sz="1800" b="0" dirty="0"/>
              <a:t>，负权重推动预测为</a:t>
            </a:r>
            <a:r>
              <a:rPr lang="en-US" altLang="zh-CN" sz="1800" b="0" dirty="0"/>
              <a:t>“</a:t>
            </a:r>
            <a:r>
              <a:rPr lang="zh-CN" altLang="en-US" sz="1800" b="0" dirty="0"/>
              <a:t>假新闻</a:t>
            </a:r>
            <a:r>
              <a:rPr lang="en-US" altLang="zh-CN" sz="1800" b="0" dirty="0"/>
              <a:t>”</a:t>
            </a:r>
            <a:r>
              <a:rPr lang="zh-CN" altLang="en-US" sz="1800" b="0" dirty="0"/>
              <a:t>。</a:t>
            </a:r>
            <a:endParaRPr lang="zh-CN" altLang="en-US" sz="1800" b="0" dirty="0"/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0" dirty="0"/>
              <a:t>       </a:t>
            </a:r>
            <a:r>
              <a:rPr lang="en-US" altLang="zh-CN" sz="1800" dirty="0"/>
              <a:t>RF</a:t>
            </a:r>
            <a:r>
              <a:rPr lang="zh-CN" altLang="en-US" sz="1800" dirty="0"/>
              <a:t>（随机森林）：</a:t>
            </a:r>
            <a:r>
              <a:rPr lang="zh-CN" altLang="en-US" sz="1800" b="0" dirty="0"/>
              <a:t>由多棵决策树组成。每棵树在训练时随机抽取部分样本和特征，从而形成</a:t>
            </a:r>
            <a:r>
              <a:rPr lang="en-US" altLang="zh-CN" sz="1800" b="0" dirty="0"/>
              <a:t>“</a:t>
            </a:r>
            <a:r>
              <a:rPr lang="zh-CN" altLang="en-US" sz="1800" b="0" dirty="0"/>
              <a:t>差异化</a:t>
            </a:r>
            <a:r>
              <a:rPr lang="en-US" altLang="zh-CN" sz="1800" b="0" dirty="0"/>
              <a:t>”</a:t>
            </a:r>
            <a:r>
              <a:rPr lang="zh-CN" altLang="en-US" sz="1800" b="0" dirty="0"/>
              <a:t>。最终分类时采用多数投票机制，减少单棵树的过拟合风险。</a:t>
            </a:r>
            <a:endParaRPr lang="zh-CN" altLang="en-US" sz="1800" b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2320" y="178695"/>
            <a:ext cx="1459911" cy="53510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05810" y="1083388"/>
            <a:ext cx="110538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kumimoji="1" lang="en-US" altLang="zh-CN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kumimoji="1" lang="zh-CN" altLang="en-US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kumimoji="1" lang="en-US" altLang="zh-CN" sz="2000" b="1" spc="3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Word2Vec + LST</a:t>
            </a:r>
            <a:r>
              <a:rPr kumimoji="1" lang="en-US" altLang="zh-CN" sz="2000" b="1" spc="3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M</a:t>
            </a:r>
            <a:endParaRPr kumimoji="1" lang="en-US" altLang="zh-CN" sz="2000" b="1" spc="3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cxnSp>
        <p:nvCxnSpPr>
          <p:cNvPr id="13" name="直线连接符 12"/>
          <p:cNvCxnSpPr/>
          <p:nvPr/>
        </p:nvCxnSpPr>
        <p:spPr>
          <a:xfrm>
            <a:off x="606718" y="1548245"/>
            <a:ext cx="109785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6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90" y="168905"/>
            <a:ext cx="1510035" cy="55347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82345" y="1851660"/>
            <a:ext cx="4742815" cy="40430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 kumimoji="1" sz="1600" b="1" spc="12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85750" indent="-28575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ym typeface="+mn-ea"/>
              </a:rPr>
              <a:t>特征表示：</a:t>
            </a:r>
            <a:r>
              <a:rPr lang="en-US" altLang="zh-CN" sz="1800" dirty="0">
                <a:sym typeface="+mn-ea"/>
              </a:rPr>
              <a:t>Word2Vec</a:t>
            </a:r>
            <a:endParaRPr lang="en-US" altLang="zh-CN" sz="1800" dirty="0">
              <a:sym typeface="+mn-ea"/>
            </a:endParaRPr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0" dirty="0"/>
              <a:t>      </a:t>
            </a:r>
            <a:r>
              <a:rPr lang="zh-CN" altLang="en-US" sz="1800" b="0" dirty="0"/>
              <a:t>稠密向量表示：</a:t>
            </a:r>
            <a:r>
              <a:rPr lang="en-US" altLang="zh-CN" sz="1800" b="0" dirty="0"/>
              <a:t>Word2Vec </a:t>
            </a:r>
            <a:r>
              <a:rPr lang="zh-CN" altLang="en-US" sz="1800" b="0" dirty="0"/>
              <a:t>将每个词映射为一个低维稠密向量（右图中，单词</a:t>
            </a:r>
            <a:r>
              <a:rPr lang="en-US" altLang="zh-CN" sz="1800" b="0" dirty="0"/>
              <a:t> expect </a:t>
            </a:r>
            <a:r>
              <a:rPr lang="zh-CN" altLang="en-US" sz="1800" b="0" dirty="0"/>
              <a:t>被表示成一个向量）。</a:t>
            </a:r>
            <a:endParaRPr lang="en-US" altLang="zh-CN" sz="1800" b="0" dirty="0"/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0" dirty="0"/>
              <a:t>      </a:t>
            </a:r>
            <a:r>
              <a:rPr lang="zh-CN" altLang="en-US" sz="1800" b="0" dirty="0"/>
              <a:t>语义关系保持：相似语义的词在向量空间中更接近。例如右图中，</a:t>
            </a:r>
            <a:r>
              <a:rPr lang="en-US" altLang="zh-CN" sz="1800" b="0" dirty="0"/>
              <a:t>“expect” </a:t>
            </a:r>
            <a:r>
              <a:rPr lang="zh-CN" altLang="en-US" sz="1800" b="0" dirty="0"/>
              <a:t>附近有</a:t>
            </a:r>
            <a:r>
              <a:rPr lang="en-US" altLang="zh-CN" sz="1800" b="0" dirty="0"/>
              <a:t>“want”“see”“meet”“say”</a:t>
            </a:r>
            <a:r>
              <a:rPr lang="zh-CN" altLang="en-US" sz="1800" b="0" dirty="0"/>
              <a:t>等词，体现了语义相似性，</a:t>
            </a:r>
            <a:r>
              <a:rPr lang="en-US" altLang="zh-CN" sz="1800" b="0" dirty="0"/>
              <a:t>Word2Vec </a:t>
            </a:r>
            <a:r>
              <a:rPr lang="zh-CN" altLang="en-US" sz="1800" b="0" dirty="0"/>
              <a:t>向量能捕捉上下文和语义信息。</a:t>
            </a:r>
            <a:endParaRPr lang="zh-CN" altLang="en-US" sz="1800" b="0" dirty="0"/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0" dirty="0">
                <a:sym typeface="+mn-ea"/>
              </a:rPr>
              <a:t>      </a:t>
            </a:r>
            <a:endParaRPr lang="zh-CN" altLang="en-US" sz="1800" b="0" dirty="0"/>
          </a:p>
        </p:txBody>
      </p:sp>
      <p:pic>
        <p:nvPicPr>
          <p:cNvPr id="2" name="图片 1" descr="word2ve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97710"/>
            <a:ext cx="5412105" cy="3629025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8155305" y="3718560"/>
            <a:ext cx="1210945" cy="83502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2320" y="178695"/>
            <a:ext cx="1459911" cy="53510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05810" y="1083388"/>
            <a:ext cx="110538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kumimoji="1" lang="en-US" altLang="zh-CN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kumimoji="1" lang="zh-CN" altLang="en-US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kumimoji="1" lang="en-US" altLang="zh-CN" sz="2000" b="1" spc="3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Word2Vec + LSTM</a:t>
            </a:r>
            <a:endParaRPr kumimoji="1" lang="en-US" altLang="zh-CN" sz="2000" b="1" spc="3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线连接符 12"/>
          <p:cNvCxnSpPr/>
          <p:nvPr/>
        </p:nvCxnSpPr>
        <p:spPr>
          <a:xfrm>
            <a:off x="606718" y="1548245"/>
            <a:ext cx="109785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6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90" y="168905"/>
            <a:ext cx="1510035" cy="55347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82345" y="1851660"/>
            <a:ext cx="9688195" cy="4278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 kumimoji="1" sz="1600" b="1" spc="12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85750" indent="-28575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ym typeface="+mn-ea"/>
              </a:rPr>
              <a:t>模型层：</a:t>
            </a:r>
            <a:r>
              <a:rPr lang="en-US" altLang="zh-CN" sz="1800" dirty="0">
                <a:sym typeface="+mn-ea"/>
              </a:rPr>
              <a:t>LSTM</a:t>
            </a:r>
            <a:endParaRPr lang="zh-CN" altLang="en-US" sz="1800" dirty="0">
              <a:sym typeface="+mn-ea"/>
            </a:endParaRPr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0" dirty="0"/>
              <a:t>     </a:t>
            </a:r>
            <a:r>
              <a:rPr lang="en-US" altLang="zh-CN" sz="1800" dirty="0"/>
              <a:t> </a:t>
            </a:r>
            <a:r>
              <a:rPr lang="zh-CN" altLang="en-US" sz="1800" dirty="0"/>
              <a:t>基本思想：</a:t>
            </a:r>
            <a:r>
              <a:rPr lang="en-US" altLang="zh-CN" sz="1800" b="0" dirty="0"/>
              <a:t>LSTM</a:t>
            </a:r>
            <a:r>
              <a:rPr lang="zh-CN" altLang="en-US" sz="1800" b="0" dirty="0"/>
              <a:t>（长短期记忆网络）是一种改进的循环神经网络，通过</a:t>
            </a:r>
            <a:r>
              <a:rPr lang="en-US" altLang="zh-CN" sz="1800" b="0" dirty="0"/>
              <a:t>“</a:t>
            </a:r>
            <a:r>
              <a:rPr lang="zh-CN" altLang="en-US" sz="1800" b="0" dirty="0"/>
              <a:t>记忆单元</a:t>
            </a:r>
            <a:r>
              <a:rPr lang="en-US" altLang="zh-CN" sz="1800" b="0" dirty="0"/>
              <a:t> + </a:t>
            </a:r>
            <a:r>
              <a:rPr lang="zh-CN" altLang="en-US" sz="1800" b="0" dirty="0"/>
              <a:t>门控机制</a:t>
            </a:r>
            <a:r>
              <a:rPr lang="en-US" altLang="zh-CN" sz="1800" b="0" dirty="0"/>
              <a:t>”</a:t>
            </a:r>
            <a:r>
              <a:rPr lang="zh-CN" altLang="en-US" sz="1800" b="0" dirty="0"/>
              <a:t>来捕捉文本中的顺序信息和长距离依赖。</a:t>
            </a:r>
            <a:endParaRPr lang="en-US" altLang="zh-CN" sz="1800" b="0" dirty="0"/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0" dirty="0"/>
              <a:t>      </a:t>
            </a:r>
            <a:r>
              <a:rPr lang="zh-CN" altLang="en-US" sz="1800" dirty="0"/>
              <a:t>结构机制：</a:t>
            </a:r>
            <a:endParaRPr lang="en-US" altLang="zh-CN" sz="1800" b="0" dirty="0"/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0" dirty="0"/>
              <a:t>            </a:t>
            </a:r>
            <a:r>
              <a:rPr lang="zh-CN" altLang="en-US" sz="1800" b="0" dirty="0"/>
              <a:t>输入门：控制新信息写入记忆单元；</a:t>
            </a:r>
            <a:endParaRPr lang="en-US" altLang="zh-CN" sz="1800" b="0" dirty="0"/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0" dirty="0"/>
              <a:t>            </a:t>
            </a:r>
            <a:r>
              <a:rPr lang="zh-CN" altLang="en-US" sz="1800" b="0" dirty="0"/>
              <a:t>遗忘门：决定保留或丢弃哪些历史信息；</a:t>
            </a:r>
            <a:endParaRPr lang="en-US" altLang="zh-CN" sz="1800" b="0" dirty="0"/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0" dirty="0"/>
              <a:t>            </a:t>
            </a:r>
            <a:r>
              <a:rPr lang="zh-CN" altLang="en-US" sz="1800" b="0" dirty="0"/>
              <a:t>输出门：决定当前时刻的隐藏状态输出。</a:t>
            </a:r>
            <a:endParaRPr lang="en-US" altLang="zh-CN" sz="1800" b="0" dirty="0"/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0" dirty="0"/>
              <a:t>      </a:t>
            </a:r>
            <a:r>
              <a:rPr lang="zh-CN" altLang="en-US" sz="1800" dirty="0"/>
              <a:t>应用优势：</a:t>
            </a:r>
            <a:r>
              <a:rPr lang="en-US" altLang="zh-CN" sz="1800" b="0" dirty="0"/>
              <a:t>LSTM </a:t>
            </a:r>
            <a:r>
              <a:rPr lang="zh-CN" altLang="en-US" sz="1800" b="0" dirty="0"/>
              <a:t>能够结合</a:t>
            </a:r>
            <a:r>
              <a:rPr lang="en-US" altLang="zh-CN" sz="1800" b="0" dirty="0"/>
              <a:t> Word2Vec </a:t>
            </a:r>
            <a:r>
              <a:rPr lang="zh-CN" altLang="en-US" sz="1800" b="0" dirty="0"/>
              <a:t>向量输入，学习上下文依赖和语义特征，比传统机器学习模型更能理解句子语义。</a:t>
            </a:r>
            <a:endParaRPr lang="zh-CN" altLang="en-US" sz="1800" b="0" dirty="0"/>
          </a:p>
        </p:txBody>
      </p:sp>
      <p:pic>
        <p:nvPicPr>
          <p:cNvPr id="2" name="图片 1" descr="LST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8670" y="2908935"/>
            <a:ext cx="4481195" cy="16840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2320" y="178695"/>
            <a:ext cx="1459911" cy="53510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05810" y="1083388"/>
            <a:ext cx="110538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kumimoji="1" lang="en-US" altLang="zh-CN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kumimoji="1" lang="zh-CN" altLang="en-US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kumimoji="1" lang="en-US" altLang="zh-CN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BERT</a:t>
            </a:r>
            <a:endParaRPr kumimoji="1" lang="en-US" altLang="zh-CN" sz="2000" b="1" spc="3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线连接符 12"/>
          <p:cNvCxnSpPr/>
          <p:nvPr/>
        </p:nvCxnSpPr>
        <p:spPr>
          <a:xfrm>
            <a:off x="606718" y="1548245"/>
            <a:ext cx="109785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6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90" y="168905"/>
            <a:ext cx="1510035" cy="55347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34085" y="1842770"/>
            <a:ext cx="10323830" cy="4673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 kumimoji="1" sz="1600" b="1" spc="12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85750" indent="-28575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ym typeface="+mn-ea"/>
              </a:rPr>
              <a:t>特征表示：</a:t>
            </a:r>
            <a:r>
              <a:rPr lang="en-US" altLang="zh-CN" sz="1800" dirty="0">
                <a:sym typeface="+mn-ea"/>
              </a:rPr>
              <a:t>BERT</a:t>
            </a:r>
            <a:endParaRPr lang="en-US" altLang="zh-CN" sz="1800" dirty="0">
              <a:sym typeface="+mn-ea"/>
            </a:endParaRPr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0" dirty="0"/>
              <a:t>      </a:t>
            </a:r>
            <a:r>
              <a:rPr lang="zh-CN" altLang="en-US" sz="1800" dirty="0"/>
              <a:t>双向编码：</a:t>
            </a:r>
            <a:r>
              <a:rPr lang="en-US" altLang="zh-CN" sz="1800" b="0" dirty="0"/>
              <a:t>BERT</a:t>
            </a:r>
            <a:r>
              <a:rPr lang="zh-CN" altLang="en-US" sz="1800" b="0" dirty="0"/>
              <a:t>基于</a:t>
            </a:r>
            <a:r>
              <a:rPr lang="en-US" altLang="zh-CN" sz="1800" b="0" dirty="0"/>
              <a:t> Transformer </a:t>
            </a:r>
            <a:r>
              <a:rPr lang="zh-CN" altLang="en-US" sz="1800" b="0" dirty="0"/>
              <a:t>结构，同时利用上下文双向信息来表示词语。</a:t>
            </a:r>
            <a:endParaRPr lang="en-US" altLang="zh-CN" sz="1800" b="0" dirty="0"/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0" dirty="0"/>
              <a:t>      </a:t>
            </a:r>
            <a:r>
              <a:rPr lang="zh-CN" altLang="en-US" sz="1800" dirty="0"/>
              <a:t>预训练任务：</a:t>
            </a:r>
            <a:endParaRPr lang="en-US" altLang="zh-CN" sz="1800" b="0" dirty="0"/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0" dirty="0"/>
              <a:t>           Masked Language Model (MLM)</a:t>
            </a:r>
            <a:r>
              <a:rPr lang="zh-CN" altLang="en-US" sz="1800" b="0" dirty="0"/>
              <a:t>：随机遮盖部分词，模型依据左右上下文预测它们。</a:t>
            </a:r>
            <a:endParaRPr lang="zh-CN" altLang="en-US" sz="1800" b="0" dirty="0"/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0" dirty="0"/>
              <a:t>           Next Sentence Prediction (NSP)</a:t>
            </a:r>
            <a:r>
              <a:rPr lang="zh-CN" altLang="en-US" sz="1800" b="0" dirty="0"/>
              <a:t>：预测两句子是否有前后关系。</a:t>
            </a:r>
            <a:endParaRPr lang="zh-CN" altLang="en-US" sz="1800" b="0" dirty="0"/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0" dirty="0"/>
              <a:t>      </a:t>
            </a:r>
            <a:r>
              <a:rPr lang="zh-CN" altLang="en-US" sz="1800" dirty="0"/>
              <a:t>向量表示：</a:t>
            </a:r>
            <a:r>
              <a:rPr lang="zh-CN" altLang="en-US" sz="1800" b="0" dirty="0"/>
              <a:t>通过预训练，</a:t>
            </a:r>
            <a:r>
              <a:rPr lang="en-US" altLang="zh-CN" sz="1800" b="0" dirty="0"/>
              <a:t>BERT </a:t>
            </a:r>
            <a:r>
              <a:rPr lang="zh-CN" altLang="en-US" sz="1800" b="0" dirty="0"/>
              <a:t>可以输出包含丰富上下文信息的词向量或句向量，适合文本分类任务。</a:t>
            </a:r>
            <a:endParaRPr lang="en-US" altLang="zh-CN" sz="1800" b="0" dirty="0"/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dirty="0"/>
              <a:t>      </a:t>
            </a:r>
            <a:r>
              <a:rPr lang="zh-CN" altLang="en-US" sz="1800" dirty="0"/>
              <a:t>优势：</a:t>
            </a:r>
            <a:r>
              <a:rPr lang="zh-CN" altLang="en-US" sz="1800" b="0" dirty="0"/>
              <a:t>相比</a:t>
            </a:r>
            <a:r>
              <a:rPr lang="en-US" altLang="zh-CN" sz="1800" b="0" dirty="0"/>
              <a:t> Word2Vec</a:t>
            </a:r>
            <a:r>
              <a:rPr lang="zh-CN" altLang="en-US" sz="1800" b="0" dirty="0"/>
              <a:t>（静态词向量），</a:t>
            </a:r>
            <a:r>
              <a:rPr lang="en-US" altLang="zh-CN" sz="1800" b="0" dirty="0"/>
              <a:t>BERT </a:t>
            </a:r>
            <a:r>
              <a:rPr lang="zh-CN" altLang="en-US" sz="1800" b="0" dirty="0"/>
              <a:t>提供动态上下文相关的表示，同一个词在不同语境中有不同的向量，更好地理解语义差异。</a:t>
            </a:r>
            <a:r>
              <a:rPr lang="en-US" altLang="zh-CN" sz="1800" b="0" dirty="0"/>
              <a:t>       </a:t>
            </a:r>
            <a:endParaRPr lang="zh-CN" altLang="en-US" sz="1800" b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2320" y="178695"/>
            <a:ext cx="1459911" cy="53510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05810" y="1083388"/>
            <a:ext cx="110538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kumimoji="1" lang="en-US" altLang="zh-CN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kumimoji="1" lang="zh-CN" altLang="en-US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kumimoji="1" lang="en-US" altLang="zh-CN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BERT</a:t>
            </a:r>
            <a:endParaRPr kumimoji="1" lang="en-US" altLang="zh-CN" sz="2000" b="1" spc="3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线连接符 12"/>
          <p:cNvCxnSpPr/>
          <p:nvPr/>
        </p:nvCxnSpPr>
        <p:spPr>
          <a:xfrm>
            <a:off x="606718" y="1548245"/>
            <a:ext cx="109785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6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90" y="168905"/>
            <a:ext cx="1510035" cy="55347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34085" y="1842770"/>
            <a:ext cx="5551170" cy="4673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 kumimoji="1" sz="1600" b="1" spc="12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85750" indent="-28575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ym typeface="+mn-ea"/>
              </a:rPr>
              <a:t>模型</a:t>
            </a:r>
            <a:r>
              <a:rPr lang="zh-CN" altLang="en-US" sz="1800" dirty="0">
                <a:sym typeface="+mn-ea"/>
              </a:rPr>
              <a:t>层：</a:t>
            </a:r>
            <a:endParaRPr lang="zh-CN" altLang="en-US" sz="1800" dirty="0">
              <a:sym typeface="+mn-ea"/>
            </a:endParaRPr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dirty="0">
                <a:sym typeface="+mn-ea"/>
              </a:rPr>
              <a:t>      </a:t>
            </a:r>
            <a:r>
              <a:rPr lang="zh-CN" altLang="en-US" sz="1800" dirty="0">
                <a:sym typeface="+mn-ea"/>
              </a:rPr>
              <a:t>微调阶段：</a:t>
            </a:r>
            <a:r>
              <a:rPr lang="en-US" altLang="zh-CN" sz="1800" b="0" dirty="0">
                <a:sym typeface="+mn-ea"/>
              </a:rPr>
              <a:t>BERT </a:t>
            </a:r>
            <a:r>
              <a:rPr lang="zh-CN" altLang="en-US" sz="1800" b="0" dirty="0">
                <a:sym typeface="+mn-ea"/>
              </a:rPr>
              <a:t>在顶层连接一个简单分类头（全连接层</a:t>
            </a:r>
            <a:r>
              <a:rPr lang="en-US" altLang="zh-CN" sz="1800" b="0" dirty="0">
                <a:sym typeface="+mn-ea"/>
              </a:rPr>
              <a:t> + softmax</a:t>
            </a:r>
            <a:r>
              <a:rPr lang="zh-CN" altLang="en-US" sz="1800" b="0" dirty="0">
                <a:sym typeface="+mn-ea"/>
              </a:rPr>
              <a:t>）用于新闻分类。</a:t>
            </a:r>
            <a:endParaRPr lang="zh-CN" altLang="en-US" sz="1800" b="0" dirty="0">
              <a:sym typeface="+mn-ea"/>
            </a:endParaRPr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0" dirty="0">
                <a:sym typeface="+mn-ea"/>
              </a:rPr>
              <a:t>      </a:t>
            </a:r>
            <a:r>
              <a:rPr lang="zh-CN" altLang="en-US" sz="1800" dirty="0">
                <a:sym typeface="+mn-ea"/>
              </a:rPr>
              <a:t>整体流程：</a:t>
            </a:r>
            <a:endParaRPr lang="zh-CN" altLang="en-US" sz="1800" b="0" dirty="0">
              <a:sym typeface="+mn-ea"/>
            </a:endParaRPr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0" dirty="0">
                <a:sym typeface="+mn-ea"/>
              </a:rPr>
              <a:t>        </a:t>
            </a:r>
            <a:r>
              <a:rPr lang="zh-CN" altLang="en-US" sz="1800" b="0" dirty="0">
                <a:sym typeface="+mn-ea"/>
              </a:rPr>
              <a:t>文本</a:t>
            </a:r>
            <a:r>
              <a:rPr lang="en-US" altLang="zh-CN" sz="1800" b="0" dirty="0">
                <a:sym typeface="+mn-ea"/>
              </a:rPr>
              <a:t> </a:t>
            </a:r>
            <a:r>
              <a:rPr lang="en-US" altLang="en-US" sz="1800" b="0" dirty="0">
                <a:sym typeface="+mn-ea"/>
              </a:rPr>
              <a:t>→</a:t>
            </a:r>
            <a:r>
              <a:rPr lang="en-US" altLang="zh-CN" sz="1800" b="0" dirty="0">
                <a:sym typeface="+mn-ea"/>
              </a:rPr>
              <a:t> </a:t>
            </a:r>
            <a:r>
              <a:rPr lang="zh-CN" altLang="en-US" sz="1800" b="0" dirty="0">
                <a:sym typeface="+mn-ea"/>
              </a:rPr>
              <a:t>分词</a:t>
            </a:r>
            <a:r>
              <a:rPr lang="en-US" altLang="zh-CN" sz="1800" b="0" dirty="0">
                <a:sym typeface="+mn-ea"/>
              </a:rPr>
              <a:t> + Token Embedding + Position Embedding </a:t>
            </a:r>
            <a:r>
              <a:rPr lang="en-US" altLang="en-US" sz="1800" b="0" dirty="0">
                <a:sym typeface="+mn-ea"/>
              </a:rPr>
              <a:t>→</a:t>
            </a:r>
            <a:r>
              <a:rPr lang="en-US" altLang="zh-CN" sz="1800" b="0" dirty="0">
                <a:sym typeface="+mn-ea"/>
              </a:rPr>
              <a:t> </a:t>
            </a:r>
            <a:r>
              <a:rPr lang="zh-CN" altLang="en-US" sz="1800" b="0" dirty="0">
                <a:sym typeface="+mn-ea"/>
              </a:rPr>
              <a:t>多层</a:t>
            </a:r>
            <a:r>
              <a:rPr lang="en-US" altLang="zh-CN" sz="1800" b="0" dirty="0">
                <a:sym typeface="+mn-ea"/>
              </a:rPr>
              <a:t> Transformer </a:t>
            </a:r>
            <a:r>
              <a:rPr lang="zh-CN" altLang="en-US" sz="1800" b="0" dirty="0">
                <a:sym typeface="+mn-ea"/>
              </a:rPr>
              <a:t>编码</a:t>
            </a:r>
            <a:r>
              <a:rPr lang="en-US" altLang="zh-CN" sz="1800" b="0" dirty="0">
                <a:sym typeface="+mn-ea"/>
              </a:rPr>
              <a:t> </a:t>
            </a:r>
            <a:r>
              <a:rPr lang="en-US" altLang="en-US" sz="1800" b="0" dirty="0">
                <a:sym typeface="+mn-ea"/>
              </a:rPr>
              <a:t>→</a:t>
            </a:r>
            <a:r>
              <a:rPr lang="en-US" altLang="zh-CN" sz="1800" b="0" dirty="0">
                <a:sym typeface="+mn-ea"/>
              </a:rPr>
              <a:t> </a:t>
            </a:r>
            <a:r>
              <a:rPr lang="zh-CN" altLang="en-US" sz="1800" b="0" dirty="0">
                <a:sym typeface="+mn-ea"/>
              </a:rPr>
              <a:t>分类头</a:t>
            </a:r>
            <a:r>
              <a:rPr lang="en-US" altLang="zh-CN" sz="1800" b="0" dirty="0">
                <a:sym typeface="+mn-ea"/>
              </a:rPr>
              <a:t> </a:t>
            </a:r>
            <a:r>
              <a:rPr lang="en-US" altLang="en-US" sz="1800" b="0" dirty="0">
                <a:sym typeface="+mn-ea"/>
              </a:rPr>
              <a:t>→</a:t>
            </a:r>
            <a:r>
              <a:rPr lang="en-US" altLang="zh-CN" sz="1800" b="0" dirty="0">
                <a:sym typeface="+mn-ea"/>
              </a:rPr>
              <a:t> </a:t>
            </a:r>
            <a:r>
              <a:rPr lang="zh-CN" altLang="en-US" sz="1800" b="0" dirty="0">
                <a:sym typeface="+mn-ea"/>
              </a:rPr>
              <a:t>输出标签</a:t>
            </a:r>
            <a:endParaRPr lang="zh-CN" altLang="en-US" sz="1800" b="0" dirty="0">
              <a:sym typeface="+mn-ea"/>
            </a:endParaRPr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0" dirty="0">
                <a:sym typeface="+mn-ea"/>
              </a:rPr>
              <a:t>      </a:t>
            </a:r>
            <a:r>
              <a:rPr lang="zh-CN" altLang="en-US" sz="1800" dirty="0">
                <a:sym typeface="+mn-ea"/>
              </a:rPr>
              <a:t>优势：</a:t>
            </a:r>
            <a:r>
              <a:rPr lang="en-US" altLang="zh-CN" sz="1800" b="0" dirty="0">
                <a:sym typeface="+mn-ea"/>
              </a:rPr>
              <a:t>BERT </a:t>
            </a:r>
            <a:r>
              <a:rPr lang="zh-CN" altLang="en-US" sz="1800" b="0" dirty="0">
                <a:sym typeface="+mn-ea"/>
              </a:rPr>
              <a:t>能同时考虑左右文上下文，较</a:t>
            </a:r>
            <a:r>
              <a:rPr lang="en-US" altLang="zh-CN" sz="1800" b="0" dirty="0">
                <a:sym typeface="+mn-ea"/>
              </a:rPr>
              <a:t> Word2Vec + LSTM </a:t>
            </a:r>
            <a:r>
              <a:rPr lang="zh-CN" altLang="en-US" sz="1800" b="0" dirty="0">
                <a:sym typeface="+mn-ea"/>
              </a:rPr>
              <a:t>更强的语义理解和泛化能力。</a:t>
            </a:r>
            <a:endParaRPr lang="zh-CN" altLang="en-US" sz="1800" b="0" dirty="0"/>
          </a:p>
        </p:txBody>
      </p:sp>
      <p:pic>
        <p:nvPicPr>
          <p:cNvPr id="4" name="图片 3" descr="BE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480" y="1713230"/>
            <a:ext cx="3267075" cy="4079240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7473315" y="6023610"/>
            <a:ext cx="38366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en-US" altLang="zh-CN" sz="2000" b="1" spc="3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BERT</a:t>
            </a:r>
            <a:r>
              <a:rPr kumimoji="1" lang="zh-CN" altLang="en-US" sz="2000" b="1" spc="3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模型的</a:t>
            </a:r>
            <a:r>
              <a:rPr kumimoji="1" lang="en-US" altLang="zh-CN" sz="2000" b="1" spc="3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Fine-tuning</a:t>
            </a:r>
            <a:endParaRPr kumimoji="1" lang="en-US" altLang="zh-CN" sz="2000" b="1" spc="3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2575560" y="3429000"/>
            <a:ext cx="7049135" cy="8642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kumimoji="1" lang="zh-CN" altLang="en-US" sz="4800" b="1" spc="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结果</a:t>
            </a:r>
            <a:r>
              <a:rPr kumimoji="1" lang="zh-CN" altLang="en-US" sz="4800" b="1" spc="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展示</a:t>
            </a:r>
            <a:endParaRPr kumimoji="1" lang="zh-CN" altLang="en-US" sz="4800" b="1" spc="6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49859" y="2332425"/>
            <a:ext cx="6099716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4000" b="1" dirty="0">
                <a:solidFill>
                  <a:schemeClr val="accent1">
                    <a:alpha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  <a:endParaRPr lang="zh-CN" altLang="en-US" sz="4000" b="1" dirty="0">
              <a:solidFill>
                <a:schemeClr val="tx1">
                  <a:alpha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1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直线连接符 14"/>
          <p:cNvCxnSpPr/>
          <p:nvPr/>
        </p:nvCxnSpPr>
        <p:spPr>
          <a:xfrm>
            <a:off x="2759242" y="4525575"/>
            <a:ext cx="6673516" cy="0"/>
          </a:xfrm>
          <a:prstGeom prst="line">
            <a:avLst/>
          </a:prstGeom>
          <a:ln>
            <a:solidFill>
              <a:schemeClr val="accent1">
                <a:alpha val="3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320" y="363215"/>
            <a:ext cx="1510035" cy="5534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2320" y="178695"/>
            <a:ext cx="1459911" cy="53510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05810" y="1083388"/>
            <a:ext cx="110538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kumimoji="1" lang="zh-CN" altLang="en-US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kumimoji="1" lang="zh-CN" altLang="en-US" sz="2000" b="1" spc="3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线连接符 12"/>
          <p:cNvCxnSpPr/>
          <p:nvPr/>
        </p:nvCxnSpPr>
        <p:spPr>
          <a:xfrm>
            <a:off x="606718" y="1548245"/>
            <a:ext cx="109785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6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90" y="168905"/>
            <a:ext cx="1510035" cy="55347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52830" y="1713230"/>
            <a:ext cx="10420350" cy="44138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 kumimoji="1" sz="1600" b="1" spc="12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85750" indent="-28575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ym typeface="+mn-ea"/>
              </a:rPr>
              <a:t>（</a:t>
            </a:r>
            <a:r>
              <a:rPr lang="en-US" altLang="zh-CN" sz="1800" dirty="0">
                <a:sym typeface="+mn-ea"/>
              </a:rPr>
              <a:t>1</a:t>
            </a:r>
            <a:r>
              <a:rPr lang="zh-CN" altLang="en-US" sz="1800" dirty="0">
                <a:sym typeface="+mn-ea"/>
              </a:rPr>
              <a:t>）</a:t>
            </a:r>
            <a:r>
              <a:rPr lang="en-US" altLang="zh-CN" sz="1800" dirty="0">
                <a:sym typeface="+mn-ea"/>
              </a:rPr>
              <a:t>TF-IDF + ML</a:t>
            </a:r>
            <a:r>
              <a:rPr lang="zh-CN" altLang="en-US" sz="1800" dirty="0">
                <a:sym typeface="+mn-ea"/>
              </a:rPr>
              <a:t>：</a:t>
            </a:r>
            <a:endParaRPr lang="zh-CN" altLang="en-US" sz="1800" dirty="0">
              <a:sym typeface="+mn-ea"/>
            </a:endParaRPr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dirty="0">
                <a:sym typeface="+mn-ea"/>
              </a:rPr>
              <a:t>          </a:t>
            </a:r>
            <a:r>
              <a:rPr lang="zh-CN" altLang="en-US" sz="1800" b="0" dirty="0">
                <a:sym typeface="+mn-ea"/>
              </a:rPr>
              <a:t>朴素贝叶斯、逻辑回归、随机森林在训练集上均接近满分（</a:t>
            </a:r>
            <a:r>
              <a:rPr lang="en-US" altLang="zh-CN" sz="1800" b="0" dirty="0">
                <a:sym typeface="+mn-ea"/>
              </a:rPr>
              <a:t>AUC≈1.0</a:t>
            </a:r>
            <a:r>
              <a:rPr lang="zh-CN" altLang="en-US" sz="1800" b="0" dirty="0">
                <a:sym typeface="+mn-ea"/>
              </a:rPr>
              <a:t>），但测试集差异明显：朴素贝叶斯表现最好（</a:t>
            </a:r>
            <a:r>
              <a:rPr lang="en-US" altLang="zh-CN" sz="1800" b="0" dirty="0">
                <a:sym typeface="+mn-ea"/>
              </a:rPr>
              <a:t>AUC = 0.957</a:t>
            </a:r>
            <a:r>
              <a:rPr lang="zh-CN" altLang="en-US" sz="1800" b="0" dirty="0">
                <a:sym typeface="+mn-ea"/>
              </a:rPr>
              <a:t>），逻辑回归次之（</a:t>
            </a:r>
            <a:r>
              <a:rPr lang="en-US" altLang="zh-CN" sz="1800" b="0" dirty="0">
                <a:sym typeface="+mn-ea"/>
              </a:rPr>
              <a:t>AUC = 0.934</a:t>
            </a:r>
            <a:r>
              <a:rPr lang="zh-CN" altLang="en-US" sz="1800" b="0" dirty="0">
                <a:sym typeface="+mn-ea"/>
              </a:rPr>
              <a:t>），随机森林过拟合严重（</a:t>
            </a:r>
            <a:r>
              <a:rPr lang="en-US" altLang="zh-CN" sz="1800" b="0" dirty="0">
                <a:sym typeface="+mn-ea"/>
              </a:rPr>
              <a:t>AUC = 0.931</a:t>
            </a:r>
            <a:r>
              <a:rPr lang="zh-CN" altLang="en-US" sz="1800" b="0" dirty="0">
                <a:sym typeface="+mn-ea"/>
              </a:rPr>
              <a:t>）。</a:t>
            </a:r>
            <a:endParaRPr lang="zh-CN" altLang="en-US" sz="1800" b="0" dirty="0"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ym typeface="+mn-ea"/>
              </a:rPr>
              <a:t>（</a:t>
            </a:r>
            <a:r>
              <a:rPr lang="en-US" altLang="zh-CN" sz="1800" dirty="0">
                <a:sym typeface="+mn-ea"/>
              </a:rPr>
              <a:t>2</a:t>
            </a:r>
            <a:r>
              <a:rPr lang="zh-CN" altLang="en-US" sz="1800" dirty="0">
                <a:sym typeface="+mn-ea"/>
              </a:rPr>
              <a:t>）</a:t>
            </a:r>
            <a:r>
              <a:rPr lang="en-US" altLang="zh-CN" sz="1800" dirty="0">
                <a:sym typeface="+mn-ea"/>
              </a:rPr>
              <a:t>Word2Vec + LSTM</a:t>
            </a:r>
            <a:r>
              <a:rPr lang="zh-CN" altLang="en-US" sz="1800" dirty="0">
                <a:sym typeface="+mn-ea"/>
              </a:rPr>
              <a:t>：</a:t>
            </a:r>
            <a:endParaRPr lang="zh-CN" altLang="en-US" sz="1800" dirty="0">
              <a:sym typeface="+mn-ea"/>
            </a:endParaRPr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dirty="0">
                <a:sym typeface="+mn-ea"/>
              </a:rPr>
              <a:t>          </a:t>
            </a:r>
            <a:r>
              <a:rPr lang="zh-CN" altLang="en-US" sz="1800" b="0" dirty="0">
                <a:sym typeface="+mn-ea"/>
              </a:rPr>
              <a:t>利用预训练词向量捕捉上下文语义，测试</a:t>
            </a:r>
            <a:r>
              <a:rPr lang="en-US" altLang="zh-CN" sz="1800" b="0" dirty="0">
                <a:sym typeface="+mn-ea"/>
              </a:rPr>
              <a:t>AUC = 0.965</a:t>
            </a:r>
            <a:r>
              <a:rPr lang="zh-CN" altLang="en-US" sz="1800" b="0" dirty="0">
                <a:sym typeface="+mn-ea"/>
              </a:rPr>
              <a:t>。模型能学习到深层语义关系，泛化优于传统机器学习。</a:t>
            </a:r>
            <a:endParaRPr lang="zh-CN" altLang="en-US" sz="1800" b="0" dirty="0"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ym typeface="+mn-ea"/>
              </a:rPr>
              <a:t>（</a:t>
            </a:r>
            <a:r>
              <a:rPr lang="en-US" altLang="zh-CN" sz="1800" dirty="0">
                <a:sym typeface="+mn-ea"/>
              </a:rPr>
              <a:t>3</a:t>
            </a:r>
            <a:r>
              <a:rPr lang="zh-CN" altLang="en-US" sz="1800" dirty="0">
                <a:sym typeface="+mn-ea"/>
              </a:rPr>
              <a:t>）</a:t>
            </a:r>
            <a:r>
              <a:rPr lang="en-US" altLang="zh-CN" sz="1800" dirty="0">
                <a:sym typeface="+mn-ea"/>
              </a:rPr>
              <a:t>BERT</a:t>
            </a:r>
            <a:r>
              <a:rPr lang="zh-CN" altLang="en-US" sz="1800" dirty="0">
                <a:sym typeface="+mn-ea"/>
              </a:rPr>
              <a:t>：</a:t>
            </a:r>
            <a:endParaRPr lang="zh-CN" altLang="en-US" sz="1800" dirty="0">
              <a:sym typeface="+mn-ea"/>
            </a:endParaRPr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dirty="0">
                <a:sym typeface="+mn-ea"/>
              </a:rPr>
              <a:t>          </a:t>
            </a:r>
            <a:r>
              <a:rPr lang="zh-CN" altLang="en-US" sz="1800" b="0" dirty="0">
                <a:sym typeface="+mn-ea"/>
              </a:rPr>
              <a:t>基于</a:t>
            </a:r>
            <a:r>
              <a:rPr lang="en-US" altLang="zh-CN" sz="1800" b="0" dirty="0">
                <a:sym typeface="+mn-ea"/>
              </a:rPr>
              <a:t> Chinese-RoBERTa-WWM-Ext </a:t>
            </a:r>
            <a:r>
              <a:rPr lang="zh-CN" altLang="en-US" sz="1800" b="0" dirty="0">
                <a:sym typeface="+mn-ea"/>
              </a:rPr>
              <a:t>微调，测试</a:t>
            </a:r>
            <a:r>
              <a:rPr lang="en-US" altLang="zh-CN" sz="1800" b="0" dirty="0">
                <a:sym typeface="+mn-ea"/>
              </a:rPr>
              <a:t>AUC = 0.988</a:t>
            </a:r>
            <a:r>
              <a:rPr lang="zh-CN" altLang="en-US" sz="1800" b="0" dirty="0">
                <a:sym typeface="+mn-ea"/>
              </a:rPr>
              <a:t>。双向</a:t>
            </a:r>
            <a:r>
              <a:rPr lang="en-US" altLang="zh-CN" sz="1800" b="0" dirty="0">
                <a:sym typeface="+mn-ea"/>
              </a:rPr>
              <a:t>Transformer</a:t>
            </a:r>
            <a:r>
              <a:rPr lang="zh-CN" altLang="en-US" sz="1800" b="0" dirty="0">
                <a:sym typeface="+mn-ea"/>
              </a:rPr>
              <a:t>捕捉全局语义，性能最优，验证了预训练语言模型在小样本中文任务中的优势。</a:t>
            </a:r>
            <a:endParaRPr lang="zh-CN" altLang="en-US" sz="1800" b="0"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2320" y="178695"/>
            <a:ext cx="1459911" cy="53510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05810" y="1083388"/>
            <a:ext cx="110538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kumimoji="1" lang="zh-CN" altLang="en-US" sz="2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endParaRPr kumimoji="1" lang="zh-CN" altLang="en-US" sz="2000" b="1" spc="3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线连接符 12"/>
          <p:cNvCxnSpPr/>
          <p:nvPr/>
        </p:nvCxnSpPr>
        <p:spPr>
          <a:xfrm>
            <a:off x="606718" y="1548245"/>
            <a:ext cx="109785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6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90" y="168905"/>
            <a:ext cx="1510035" cy="55347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52830" y="1713230"/>
            <a:ext cx="10420350" cy="4909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 kumimoji="1" sz="1600" b="1" spc="12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85750" indent="-28575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ym typeface="+mn-ea"/>
              </a:rPr>
              <a:t>（</a:t>
            </a:r>
            <a:r>
              <a:rPr lang="en-US" altLang="zh-CN" sz="1800" dirty="0">
                <a:sym typeface="+mn-ea"/>
              </a:rPr>
              <a:t>1</a:t>
            </a:r>
            <a:r>
              <a:rPr lang="zh-CN" altLang="en-US" sz="1800" dirty="0">
                <a:sym typeface="+mn-ea"/>
              </a:rPr>
              <a:t>）模型差异来源</a:t>
            </a:r>
            <a:endParaRPr lang="zh-CN" altLang="en-US" sz="1800" dirty="0">
              <a:sym typeface="+mn-ea"/>
            </a:endParaRPr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0" dirty="0">
                <a:sym typeface="+mn-ea"/>
              </a:rPr>
              <a:t>          </a:t>
            </a:r>
            <a:r>
              <a:rPr lang="zh-CN" altLang="en-US" sz="1800" b="0" dirty="0">
                <a:sym typeface="+mn-ea"/>
              </a:rPr>
              <a:t>所有模型在训练集上</a:t>
            </a:r>
            <a:r>
              <a:rPr lang="en-US" altLang="zh-CN" sz="1800" b="0" dirty="0">
                <a:sym typeface="+mn-ea"/>
              </a:rPr>
              <a:t>AUC</a:t>
            </a:r>
            <a:r>
              <a:rPr lang="zh-CN" altLang="en-US" sz="1800" b="0" dirty="0">
                <a:sym typeface="+mn-ea"/>
              </a:rPr>
              <a:t>接近</a:t>
            </a:r>
            <a:r>
              <a:rPr lang="en-US" altLang="zh-CN" sz="1800" b="0" dirty="0">
                <a:sym typeface="+mn-ea"/>
              </a:rPr>
              <a:t>1.0</a:t>
            </a:r>
            <a:r>
              <a:rPr lang="zh-CN" altLang="en-US" sz="1800" b="0" dirty="0">
                <a:sym typeface="+mn-ea"/>
              </a:rPr>
              <a:t>，但测试集差异明显，说明泛化能力不同。传统模型基于</a:t>
            </a:r>
            <a:r>
              <a:rPr lang="en-US" altLang="zh-CN" sz="1800" b="0" dirty="0">
                <a:sym typeface="+mn-ea"/>
              </a:rPr>
              <a:t>TF-IDF</a:t>
            </a:r>
            <a:r>
              <a:rPr lang="zh-CN" altLang="en-US" sz="1800" b="0" dirty="0">
                <a:sym typeface="+mn-ea"/>
              </a:rPr>
              <a:t>的稀疏特征，容易过拟合；朴素贝叶斯因假设简单反而具有正则化效果，表现相对稳定。</a:t>
            </a:r>
            <a:endParaRPr lang="en-US" altLang="zh-CN" sz="1800" b="0" dirty="0"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ym typeface="+mn-ea"/>
              </a:rPr>
              <a:t>（</a:t>
            </a:r>
            <a:r>
              <a:rPr lang="en-US" altLang="zh-CN" sz="1800" dirty="0">
                <a:sym typeface="+mn-ea"/>
              </a:rPr>
              <a:t>2</a:t>
            </a:r>
            <a:r>
              <a:rPr lang="zh-CN" altLang="en-US" sz="1800" dirty="0">
                <a:sym typeface="+mn-ea"/>
              </a:rPr>
              <a:t>）数据集影响</a:t>
            </a:r>
            <a:endParaRPr lang="zh-CN" altLang="en-US" sz="1800" dirty="0">
              <a:sym typeface="+mn-ea"/>
            </a:endParaRPr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0" dirty="0">
                <a:sym typeface="+mn-ea"/>
              </a:rPr>
              <a:t>          </a:t>
            </a:r>
            <a:r>
              <a:rPr lang="zh-CN" altLang="en-US" sz="1800" b="0" dirty="0">
                <a:sym typeface="+mn-ea"/>
              </a:rPr>
              <a:t>训练样本仅</a:t>
            </a:r>
            <a:r>
              <a:rPr lang="en-US" altLang="zh-CN" sz="1800" b="0" dirty="0">
                <a:sym typeface="+mn-ea"/>
              </a:rPr>
              <a:t>3673</a:t>
            </a:r>
            <a:r>
              <a:rPr lang="zh-CN" altLang="en-US" sz="1800" b="0" dirty="0">
                <a:sym typeface="+mn-ea"/>
              </a:rPr>
              <a:t>条，平均文本长度约</a:t>
            </a:r>
            <a:r>
              <a:rPr lang="en-US" altLang="zh-CN" sz="1800" b="0" dirty="0">
                <a:sym typeface="+mn-ea"/>
              </a:rPr>
              <a:t>105</a:t>
            </a:r>
            <a:r>
              <a:rPr lang="zh-CN" altLang="en-US" sz="1800" b="0" dirty="0">
                <a:sym typeface="+mn-ea"/>
              </a:rPr>
              <a:t>字，属于小规模短文本。深度模型在这种条件下易过拟合，但</a:t>
            </a:r>
            <a:r>
              <a:rPr lang="en-US" altLang="zh-CN" sz="1800" b="0" dirty="0">
                <a:sym typeface="+mn-ea"/>
              </a:rPr>
              <a:t>BERT</a:t>
            </a:r>
            <a:r>
              <a:rPr lang="zh-CN" altLang="en-US" sz="1800" b="0" dirty="0">
                <a:sym typeface="+mn-ea"/>
              </a:rPr>
              <a:t>和</a:t>
            </a:r>
            <a:r>
              <a:rPr lang="en-US" altLang="zh-CN" sz="1800" b="0" dirty="0">
                <a:sym typeface="+mn-ea"/>
              </a:rPr>
              <a:t>LSTM</a:t>
            </a:r>
            <a:r>
              <a:rPr lang="zh-CN" altLang="en-US" sz="1800" b="0" dirty="0">
                <a:sym typeface="+mn-ea"/>
              </a:rPr>
              <a:t>都利用了预训练权重，弥补了数据不足的劣势，从而获得更高测试</a:t>
            </a:r>
            <a:r>
              <a:rPr lang="en-US" altLang="zh-CN" sz="1800" b="0" dirty="0">
                <a:sym typeface="+mn-ea"/>
              </a:rPr>
              <a:t>AUC</a:t>
            </a:r>
            <a:r>
              <a:rPr lang="zh-CN" altLang="en-US" sz="1800" b="0" dirty="0">
                <a:sym typeface="+mn-ea"/>
              </a:rPr>
              <a:t>。</a:t>
            </a:r>
            <a:endParaRPr lang="en-US" altLang="zh-CN" sz="1800" b="0" dirty="0"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1800" dirty="0">
                <a:sym typeface="+mn-ea"/>
              </a:rPr>
              <a:t>（</a:t>
            </a:r>
            <a:r>
              <a:rPr lang="en-US" altLang="zh-CN" sz="1800" dirty="0">
                <a:sym typeface="+mn-ea"/>
              </a:rPr>
              <a:t>3</a:t>
            </a:r>
            <a:r>
              <a:rPr lang="zh-CN" altLang="en-US" sz="1800" dirty="0">
                <a:sym typeface="+mn-ea"/>
              </a:rPr>
              <a:t>）性能与复杂度权衡</a:t>
            </a:r>
            <a:endParaRPr lang="zh-CN" altLang="en-US" sz="1800" dirty="0">
              <a:sym typeface="+mn-ea"/>
            </a:endParaRPr>
          </a:p>
          <a:p>
            <a:pPr indent="0" fontAlgn="auto">
              <a:lnSpc>
                <a:spcPct val="15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0" dirty="0">
                <a:sym typeface="+mn-ea"/>
              </a:rPr>
              <a:t>          BERT</a:t>
            </a:r>
            <a:r>
              <a:rPr lang="zh-CN" altLang="en-US" sz="1800" b="0" dirty="0">
                <a:sym typeface="+mn-ea"/>
              </a:rPr>
              <a:t>性能最优但计算成本最高；</a:t>
            </a:r>
            <a:r>
              <a:rPr lang="en-US" altLang="zh-CN" sz="1800" b="0" dirty="0">
                <a:sym typeface="+mn-ea"/>
              </a:rPr>
              <a:t>LSTM</a:t>
            </a:r>
            <a:r>
              <a:rPr lang="zh-CN" altLang="en-US" sz="1800" b="0" dirty="0">
                <a:sym typeface="+mn-ea"/>
              </a:rPr>
              <a:t>在效果和资源消耗之间平衡较好；传统模型轻量、快速但语义表达能力有限。结果说明，在小样本中文任务中，预训练语义模型具有明显优势。</a:t>
            </a:r>
            <a:endParaRPr lang="zh-CN" altLang="en-US" sz="1800" b="0"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829853"/>
            <a:ext cx="12192002" cy="24858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59363" y="2276306"/>
            <a:ext cx="10873274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8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感谢老师，恳请批评指正！</a:t>
            </a:r>
            <a:endParaRPr kumimoji="1" lang="zh-CN" altLang="en-US" sz="48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053252" y="3360568"/>
            <a:ext cx="8085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GB" altLang="zh-CN" sz="2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 YOU</a:t>
            </a:r>
            <a:endParaRPr kumimoji="1" lang="en-GB" altLang="zh-CN" sz="24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5064087" y="4869701"/>
            <a:ext cx="2063826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姓名：</a:t>
            </a:r>
            <a:r>
              <a:rPr kumimoji="1" lang="en-US" altLang="zh-CN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endParaRPr kumimoji="1" lang="en-US" altLang="zh-CN" sz="1600" b="1" spc="3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2"/>
            </p:custDataLst>
          </p:nvPr>
        </p:nvSpPr>
        <p:spPr>
          <a:xfrm>
            <a:off x="4755396" y="4819233"/>
            <a:ext cx="2681207" cy="43943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accent1">
                <a:alpha val="6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5064087" y="5525421"/>
            <a:ext cx="2063826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学号：</a:t>
            </a:r>
            <a:r>
              <a:rPr kumimoji="1" lang="en-US" altLang="zh-CN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</a:t>
            </a:r>
            <a:endParaRPr kumimoji="1" lang="en-US" altLang="zh-CN" sz="1600" b="1" spc="3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圆角矩形 16"/>
          <p:cNvSpPr/>
          <p:nvPr>
            <p:custDataLst>
              <p:tags r:id="rId4"/>
            </p:custDataLst>
          </p:nvPr>
        </p:nvSpPr>
        <p:spPr>
          <a:xfrm>
            <a:off x="4755396" y="5474953"/>
            <a:ext cx="2681207" cy="43943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accent1">
                <a:alpha val="6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9080" y="684211"/>
            <a:ext cx="2093839" cy="767463"/>
          </a:xfrm>
          <a:prstGeom prst="rect">
            <a:avLst/>
          </a:prstGeom>
        </p:spPr>
      </p:pic>
      <p:sp>
        <p:nvSpPr>
          <p:cNvPr id="12" name="椭圆 11"/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3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86.2322834645669,&quot;left&quot;:374.4406299212598,&quot;top&quot;:379.4671653543307,&quot;width&quot;:211.1186614173228}"/>
</p:tagLst>
</file>

<file path=ppt/tags/tag2.xml><?xml version="1.0" encoding="utf-8"?>
<p:tagLst xmlns:p="http://schemas.openxmlformats.org/presentationml/2006/main">
  <p:tag name="KSO_WM_DIAGRAM_VIRTUALLY_FRAME" val="{&quot;height&quot;:86.2322834645669,&quot;left&quot;:374.4406299212598,&quot;top&quot;:379.4671653543307,&quot;width&quot;:211.1186614173228}"/>
</p:tagLst>
</file>

<file path=ppt/tags/tag3.xml><?xml version="1.0" encoding="utf-8"?>
<p:tagLst xmlns:p="http://schemas.openxmlformats.org/presentationml/2006/main">
  <p:tag name="KSO_WM_DIAGRAM_VIRTUALLY_FRAME" val="{&quot;height&quot;:86.2322834645669,&quot;left&quot;:374.4406299212598,&quot;top&quot;:379.4671653543307,&quot;width&quot;:211.1186614173228}"/>
</p:tagLst>
</file>

<file path=ppt/tags/tag4.xml><?xml version="1.0" encoding="utf-8"?>
<p:tagLst xmlns:p="http://schemas.openxmlformats.org/presentationml/2006/main">
  <p:tag name="KSO_WM_DIAGRAM_VIRTUALLY_FRAME" val="{&quot;height&quot;:86.2322834645669,&quot;left&quot;:374.4406299212598,&quot;top&quot;:379.4671653543307,&quot;width&quot;:211.1186614173228}"/>
</p:tagLst>
</file>

<file path=ppt/tags/tag5.xml><?xml version="1.0" encoding="utf-8"?>
<p:tagLst xmlns:p="http://schemas.openxmlformats.org/presentationml/2006/main">
  <p:tag name="KSO_WM_DIAGRAM_VIRTUALLY_FRAME" val="{&quot;height&quot;:86.2322834645669,&quot;left&quot;:374.4406299212598,&quot;top&quot;:379.4671653543307,&quot;width&quot;:211.1186614173228}"/>
</p:tagLst>
</file>

<file path=ppt/tags/tag6.xml><?xml version="1.0" encoding="utf-8"?>
<p:tagLst xmlns:p="http://schemas.openxmlformats.org/presentationml/2006/main">
  <p:tag name="KSO_WM_DIAGRAM_VIRTUALLY_FRAME" val="{&quot;height&quot;:86.2322834645669,&quot;left&quot;:374.4406299212598,&quot;top&quot;:379.4671653543307,&quot;width&quot;:211.1186614173228}"/>
</p:tagLst>
</file>

<file path=ppt/tags/tag7.xml><?xml version="1.0" encoding="utf-8"?>
<p:tagLst xmlns:p="http://schemas.openxmlformats.org/presentationml/2006/main">
  <p:tag name="KSO_WM_DIAGRAM_VIRTUALLY_FRAME" val="{&quot;height&quot;:86.2322834645669,&quot;left&quot;:374.4406299212598,&quot;top&quot;:379.4671653543307,&quot;width&quot;:211.1186614173228}"/>
</p:tagLst>
</file>

<file path=ppt/tags/tag8.xml><?xml version="1.0" encoding="utf-8"?>
<p:tagLst xmlns:p="http://schemas.openxmlformats.org/presentationml/2006/main">
  <p:tag name="KSO_WM_DIAGRAM_VIRTUALLY_FRAME" val="{&quot;height&quot;:86.2322834645669,&quot;left&quot;:374.4406299212598,&quot;top&quot;:379.4671653543307,&quot;width&quot;:211.1186614173228}"/>
</p:tagLst>
</file>

<file path=ppt/tags/tag9.xml><?xml version="1.0" encoding="utf-8"?>
<p:tagLst xmlns:p="http://schemas.openxmlformats.org/presentationml/2006/main">
  <p:tag name="resource_record_key" val="{&quot;70&quot;:[3314550]}"/>
</p:tagLst>
</file>

<file path=ppt/theme/theme1.xml><?xml version="1.0" encoding="utf-8"?>
<a:theme xmlns:a="http://schemas.openxmlformats.org/drawingml/2006/main" name="Office 主题​​">
  <a:themeElements>
    <a:clrScheme name="自定义 164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8C3A73"/>
      </a:accent1>
      <a:accent2>
        <a:srgbClr val="8C3A7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2757</Words>
  <Application>WPS 演示</Application>
  <PresentationFormat>宽屏</PresentationFormat>
  <Paragraphs>171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聂博文</cp:lastModifiedBy>
  <cp:revision>157</cp:revision>
  <dcterms:created xsi:type="dcterms:W3CDTF">2023-05-03T15:34:00Z</dcterms:created>
  <dcterms:modified xsi:type="dcterms:W3CDTF">2026-01-03T05:59:08Z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E2281E06671E4662A07AF72AB73C498E_13</vt:lpwstr>
  </property>
  <property fmtid="{D5CDD505-2E9C-101B-9397-08002B2CF9AE}" pid="3" name="KSOProductBuildVer">
    <vt:lpwstr>2052-12.1.0.23125</vt:lpwstr>
  </property>
</Properties>
</file>